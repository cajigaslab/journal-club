
<file path=[Content_Types].xml><?xml version="1.0" encoding="utf-8"?>
<Types xmlns="http://schemas.openxmlformats.org/package/2006/content-types">
  <Default Extension="jpeg" ContentType="image/jpeg"/>
  <Default Extension="jpg" ContentType="image/png"/>
  <Default Extension="pn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notesSlides/notesSlide5.xml" ContentType="application/vnd.openxmlformats-officedocument.presentationml.notesSlide+xml"/>
  <Override PartName="/ppt/media/image9.png" ContentType="image/png"/>
  <Override PartName="/ppt/notesSlides/notesSlide6.xml" ContentType="application/vnd.openxmlformats-officedocument.presentationml.notesSlide+xml"/>
  <Override PartName="/ppt/media/image10.png" ContentType="image/png"/>
  <Override PartName="/ppt/media/image11.png" ContentType="image/png"/>
  <Override PartName="/ppt/notesSlides/notesSlide7.xml" ContentType="application/vnd.openxmlformats-officedocument.presentationml.notesSlide+xml"/>
  <Override PartName="/ppt/media/image12.png" ContentType="image/png"/>
  <Override PartName="/ppt/notesSlides/notesSlide8.xml" ContentType="application/vnd.openxmlformats-officedocument.presentationml.notesSlide+xml"/>
  <Override PartName="/ppt/media/image13.png" ContentType="image/png"/>
  <Override PartName="/ppt/notesSlides/notesSlide9.xml" ContentType="application/vnd.openxmlformats-officedocument.presentationml.notesSlide+xml"/>
  <Override PartName="/ppt/media/image14.png" ContentType="image/png"/>
  <Override PartName="/ppt/notesSlides/notesSlide10.xml" ContentType="application/vnd.openxmlformats-officedocument.presentationml.notesSlide+xml"/>
  <Override PartName="/ppt/media/image15.png" ContentType="image/png"/>
  <Override PartName="/ppt/media/image16.png" ContentType="image/png"/>
  <Override PartName="/ppt/notesSlides/notesSlide11.xml" ContentType="application/vnd.openxmlformats-officedocument.presentationml.notesSlide+xml"/>
  <Override PartName="/ppt/media/image17.png" ContentType="image/png"/>
  <Override PartName="/ppt/media/image18.png" ContentType="image/png"/>
  <Override PartName="/ppt/media/image19.pn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sldIdLst>
    <p:sldId id="256" r:id="rId2"/>
    <p:sldId id="259" r:id="rId3"/>
    <p:sldId id="257" r:id="rId4"/>
    <p:sldId id="261" r:id="rId5"/>
    <p:sldId id="258" r:id="rId6"/>
    <p:sldId id="290" r:id="rId7"/>
    <p:sldId id="298" r:id="rId8"/>
    <p:sldId id="299" r:id="rId9"/>
    <p:sldId id="300" r:id="rId10"/>
    <p:sldId id="301" r:id="rId11"/>
    <p:sldId id="291" r:id="rId12"/>
    <p:sldId id="264" r:id="rId13"/>
    <p:sldId id="302" r:id="rId14"/>
    <p:sldId id="303" r:id="rId15"/>
    <p:sldId id="279" r:id="rId16"/>
    <p:sldId id="266" r:id="rId17"/>
    <p:sldId id="304" r:id="rId18"/>
    <p:sldId id="282" r:id="rId19"/>
    <p:sldId id="267" r:id="rId20"/>
    <p:sldId id="30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40"/>
    <p:restoredTop sz="93348" autoAdjust="0"/>
  </p:normalViewPr>
  <p:slideViewPr>
    <p:cSldViewPr snapToGrid="0">
      <p:cViewPr>
        <p:scale>
          <a:sx n="97" d="100"/>
          <a:sy n="97" d="100"/>
        </p:scale>
        <p:origin x="1104" y="4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A1DF61-C40E-F547-B8B7-5AFE3105CBCC}" type="datetimeFigureOut">
              <a:rPr lang="en-US" smtClean="0"/>
              <a:t>9/23/26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C934AA-B4C5-2641-BE4F-C54B45620FFB}" type="slidenum">
              <a:rPr lang="en-US" smtClean="0"/>
              <a:t>‹#›</a:t>
            </a:fld>
            <a:endParaRPr lang="en-US"/>
          </a:p>
        </p:txBody>
      </p:sp>
    </p:spTree>
    <p:extLst>
      <p:ext uri="{BB962C8B-B14F-4D97-AF65-F5344CB8AC3E}">
        <p14:creationId xmlns:p14="http://schemas.microsoft.com/office/powerpoint/2010/main" val="1341514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C934AA-B4C5-2641-BE4F-C54B45620FFB}" type="slidenum">
              <a:rPr lang="en-US" smtClean="0"/>
              <a:t>1</a:t>
            </a:fld>
            <a:endParaRPr lang="en-US"/>
          </a:p>
        </p:txBody>
      </p:sp>
    </p:spTree>
    <p:extLst>
      <p:ext uri="{BB962C8B-B14F-4D97-AF65-F5344CB8AC3E}">
        <p14:creationId xmlns:p14="http://schemas.microsoft.com/office/powerpoint/2010/main" val="4194519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Prior work shows that changing initial posture causes complicated changes in individual M1 neurons (tuning changes, rate offsets), so one might expect complex interactions between posture and goal at the population level However, in many other brain areas, the dominant population-level structure is simple and interpretable even when single-neuron responses are complex This study systematically varies arm posture across BCI, isometric force and reaching tasks to test whether posture and goal signals sit in separable subspaces, whether the posture subspace is shared across tasks, and whether goal-related neural trajectories keep their shape across postures</a:t>
            </a:r>
          </a:p>
          <a:p>
            <a:endParaRPr lang="en-US" dirty="0"/>
          </a:p>
        </p:txBody>
      </p:sp>
      <p:sp>
        <p:nvSpPr>
          <p:cNvPr id="4" name="Slide Number Placeholder 3"/>
          <p:cNvSpPr>
            <a:spLocks noGrp="1"/>
          </p:cNvSpPr>
          <p:nvPr>
            <p:ph type="sldNum" sz="quarter" idx="5"/>
          </p:nvPr>
        </p:nvSpPr>
        <p:spPr/>
        <p:txBody>
          <a:bodyPr/>
          <a:lstStyle/>
          <a:p>
            <a:fld id="{35C934AA-B4C5-2641-BE4F-C54B45620FFB}" type="slidenum">
              <a:rPr lang="en-US" smtClean="0"/>
              <a:t>3</a:t>
            </a:fld>
            <a:endParaRPr lang="en-US"/>
          </a:p>
        </p:txBody>
      </p:sp>
    </p:spTree>
    <p:extLst>
      <p:ext uri="{BB962C8B-B14F-4D97-AF65-F5344CB8AC3E}">
        <p14:creationId xmlns:p14="http://schemas.microsoft.com/office/powerpoint/2010/main" val="884792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C934AA-B4C5-2641-BE4F-C54B45620FFB}" type="slidenum">
              <a:rPr lang="en-US" smtClean="0"/>
              <a:t>4</a:t>
            </a:fld>
            <a:endParaRPr lang="en-US"/>
          </a:p>
        </p:txBody>
      </p:sp>
    </p:spTree>
    <p:extLst>
      <p:ext uri="{BB962C8B-B14F-4D97-AF65-F5344CB8AC3E}">
        <p14:creationId xmlns:p14="http://schemas.microsoft.com/office/powerpoint/2010/main" val="810137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C934AA-B4C5-2641-BE4F-C54B45620FFB}" type="slidenum">
              <a:rPr lang="en-US" smtClean="0"/>
              <a:t>5</a:t>
            </a:fld>
            <a:endParaRPr lang="en-US"/>
          </a:p>
        </p:txBody>
      </p:sp>
    </p:spTree>
    <p:extLst>
      <p:ext uri="{BB962C8B-B14F-4D97-AF65-F5344CB8AC3E}">
        <p14:creationId xmlns:p14="http://schemas.microsoft.com/office/powerpoint/2010/main" val="4012066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The posture dimension explains little variance, at 7% (E shoulder), 8% (E elbow), 5% (N) and 21% (R). The authors suggest across-animal differences may reflect array location, the postural manipulation used, or cursor kinematics</a:t>
            </a:r>
          </a:p>
          <a:p>
            <a:pPr lvl="0"/>
            <a:r>
              <a:rPr lang="en-US" dirty="0"/>
              <a:t>The decoder control was done in a single experiment in Monkey E</a:t>
            </a:r>
          </a:p>
          <a:p>
            <a:pPr lvl="0"/>
            <a:r>
              <a:rPr lang="en-US" dirty="0"/>
              <a:t>Kinematic control: the cursor difference rose significantly from within-condition to 15° (p &lt; 10⁻³²), then not from 15→30° (p=0.52), 30→45° (p=0.09) or 45→60° (p=0.63). Isometric force showed the same pattern (p=0.01, then 0.56, 0.34, 0.77). So a posture change of any size produced some kinematic difference but no monotonic growth</a:t>
            </a:r>
          </a:p>
          <a:p>
            <a:endParaRPr lang="en-US" dirty="0"/>
          </a:p>
        </p:txBody>
      </p:sp>
      <p:sp>
        <p:nvSpPr>
          <p:cNvPr id="4" name="Slide Number Placeholder 3"/>
          <p:cNvSpPr>
            <a:spLocks noGrp="1"/>
          </p:cNvSpPr>
          <p:nvPr>
            <p:ph type="sldNum" sz="quarter" idx="5"/>
          </p:nvPr>
        </p:nvSpPr>
        <p:spPr/>
        <p:txBody>
          <a:bodyPr/>
          <a:lstStyle/>
          <a:p>
            <a:fld id="{35C934AA-B4C5-2641-BE4F-C54B45620FFB}" type="slidenum">
              <a:rPr lang="en-US" smtClean="0"/>
              <a:t>10</a:t>
            </a:fld>
            <a:endParaRPr lang="en-US"/>
          </a:p>
        </p:txBody>
      </p:sp>
    </p:spTree>
    <p:extLst>
      <p:ext uri="{BB962C8B-B14F-4D97-AF65-F5344CB8AC3E}">
        <p14:creationId xmlns:p14="http://schemas.microsoft.com/office/powerpoint/2010/main" val="2863424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"Nearly", not fully, orthogonal. Cross-captured variance is about 10–21%</a:t>
            </a:r>
          </a:p>
          <a:p>
            <a:pPr lvl="0"/>
            <a:r>
              <a:rPr lang="en-US" dirty="0"/>
              <a:t>In the two-joint session the cross-captured value (about 17–21% in Fig S5) sits close to the random-subspace mean (dashed line, about 20%). The authors call it the low end of the random distribution</a:t>
            </a:r>
          </a:p>
          <a:p>
            <a:pPr lvl="0"/>
            <a:r>
              <a:rPr lang="en-US" dirty="0"/>
              <a:t>Reported p &lt; 10⁻²⁵ (see the bootstrap note on Slide 8)</a:t>
            </a:r>
          </a:p>
          <a:p>
            <a:pPr lvl="0"/>
            <a:r>
              <a:rPr lang="en-US" dirty="0"/>
              <a:t>Figures: 3, S5</a:t>
            </a:r>
          </a:p>
          <a:p>
            <a:endParaRPr lang="en-US" dirty="0"/>
          </a:p>
          <a:p>
            <a:endParaRPr lang="en-US" dirty="0"/>
          </a:p>
        </p:txBody>
      </p:sp>
      <p:sp>
        <p:nvSpPr>
          <p:cNvPr id="4" name="Slide Number Placeholder 3"/>
          <p:cNvSpPr>
            <a:spLocks noGrp="1"/>
          </p:cNvSpPr>
          <p:nvPr>
            <p:ph type="sldNum" sz="quarter" idx="5"/>
          </p:nvPr>
        </p:nvSpPr>
        <p:spPr/>
        <p:txBody>
          <a:bodyPr/>
          <a:lstStyle/>
          <a:p>
            <a:fld id="{35C934AA-B4C5-2641-BE4F-C54B45620FFB}" type="slidenum">
              <a:rPr lang="en-US" smtClean="0"/>
              <a:t>11</a:t>
            </a:fld>
            <a:endParaRPr lang="en-US"/>
          </a:p>
        </p:txBody>
      </p:sp>
    </p:spTree>
    <p:extLst>
      <p:ext uri="{BB962C8B-B14F-4D97-AF65-F5344CB8AC3E}">
        <p14:creationId xmlns:p14="http://schemas.microsoft.com/office/powerpoint/2010/main" val="3948407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Reaching is the only task with systematic kinematic changes across postures (p &lt; 0.002 for all comparisons). The authors argue this can't explain the posture subspace, because BCI and isometric lack such changes and the subspace is shared across tasks</a:t>
            </a:r>
          </a:p>
          <a:p>
            <a:pPr lvl="0"/>
            <a:r>
              <a:rPr lang="en-US" dirty="0"/>
              <a:t>Reaching "posture" is initial hand location, so posture and hand position are confounded. The lack of hand-position tracking is explained only speculatively, via nonlinear spindle and muscle-length effects</a:t>
            </a:r>
          </a:p>
          <a:p>
            <a:pPr lvl="0"/>
            <a:r>
              <a:rPr lang="en-US" dirty="0"/>
              <a:t>Reaction times differ: E ≈ 310 ms in reaching, versus ≈ 200 ms for N and R</a:t>
            </a:r>
          </a:p>
          <a:p>
            <a:pPr lvl="0"/>
            <a:r>
              <a:rPr lang="en-US" dirty="0"/>
              <a:t>Isometric force is Monkey E only</a:t>
            </a:r>
          </a:p>
          <a:p>
            <a:endParaRPr lang="en-US" dirty="0"/>
          </a:p>
        </p:txBody>
      </p:sp>
      <p:sp>
        <p:nvSpPr>
          <p:cNvPr id="4" name="Slide Number Placeholder 3"/>
          <p:cNvSpPr>
            <a:spLocks noGrp="1"/>
          </p:cNvSpPr>
          <p:nvPr>
            <p:ph type="sldNum" sz="quarter" idx="5"/>
          </p:nvPr>
        </p:nvSpPr>
        <p:spPr/>
        <p:txBody>
          <a:bodyPr/>
          <a:lstStyle/>
          <a:p>
            <a:fld id="{35C934AA-B4C5-2641-BE4F-C54B45620FFB}" type="slidenum">
              <a:rPr lang="en-US" smtClean="0"/>
              <a:t>12</a:t>
            </a:fld>
            <a:endParaRPr lang="en-US"/>
          </a:p>
        </p:txBody>
      </p:sp>
    </p:spTree>
    <p:extLst>
      <p:ext uri="{BB962C8B-B14F-4D97-AF65-F5344CB8AC3E}">
        <p14:creationId xmlns:p14="http://schemas.microsoft.com/office/powerpoint/2010/main" val="2229421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20EF-54F0-477C-71E7-DD33D3ADE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DB61A-24F0-FEAA-746B-790CCE1E0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28FD2-E8DA-1A4A-5405-A96EAE0C9262}"/>
              </a:ext>
            </a:extLst>
          </p:cNvPr>
          <p:cNvSpPr>
            <a:spLocks noGrp="1"/>
          </p:cNvSpPr>
          <p:nvPr>
            <p:ph type="body" idx="1"/>
          </p:nvPr>
        </p:nvSpPr>
        <p:spPr/>
        <p:txBody>
          <a:bodyPr/>
          <a:lstStyle/>
          <a:p>
            <a:pPr lvl="0"/>
            <a:r>
              <a:rPr lang="en-US" dirty="0"/>
              <a:t>One session, one animal, and only three postures (30° apart)</a:t>
            </a:r>
          </a:p>
          <a:p>
            <a:pPr lvl="0"/>
            <a:r>
              <a:rPr lang="en-US" dirty="0"/>
              <a:t>Cross-task generalization drops about 18 points relative to the pooled classifier, so the subspace is shared but not identical</a:t>
            </a:r>
          </a:p>
          <a:p>
            <a:pPr lvl="0"/>
            <a:r>
              <a:rPr lang="en-US" dirty="0"/>
              <a:t>Posture dims explain very little variance here (2% and 1%). The authors note this is smaller than in Fig 2 because of the added across-task variability</a:t>
            </a:r>
          </a:p>
          <a:p>
            <a:pPr lvl="0"/>
            <a:r>
              <a:rPr lang="en-US" dirty="0"/>
              <a:t>BCI in this paradigm is center-out-across with a 500 ms freeze period, slightly different from the standalone BCI task</a:t>
            </a:r>
          </a:p>
        </p:txBody>
      </p:sp>
      <p:sp>
        <p:nvSpPr>
          <p:cNvPr id="4" name="Slide Number Placeholder 3">
            <a:extLst>
              <a:ext uri="{FF2B5EF4-FFF2-40B4-BE49-F238E27FC236}">
                <a16:creationId xmlns:a16="http://schemas.microsoft.com/office/drawing/2014/main" id="{8CC6C171-585A-E0DD-8E84-E468234643EF}"/>
              </a:ext>
            </a:extLst>
          </p:cNvPr>
          <p:cNvSpPr>
            <a:spLocks noGrp="1"/>
          </p:cNvSpPr>
          <p:nvPr>
            <p:ph type="sldNum" sz="quarter" idx="5"/>
          </p:nvPr>
        </p:nvSpPr>
        <p:spPr/>
        <p:txBody>
          <a:bodyPr/>
          <a:lstStyle/>
          <a:p>
            <a:fld id="{35C934AA-B4C5-2641-BE4F-C54B45620FFB}" type="slidenum">
              <a:rPr lang="en-US" smtClean="0"/>
              <a:t>13</a:t>
            </a:fld>
            <a:endParaRPr lang="en-US"/>
          </a:p>
        </p:txBody>
      </p:sp>
    </p:spTree>
    <p:extLst>
      <p:ext uri="{BB962C8B-B14F-4D97-AF65-F5344CB8AC3E}">
        <p14:creationId xmlns:p14="http://schemas.microsoft.com/office/powerpoint/2010/main" val="3783271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E9F19-5210-B684-8BAA-F5A57B15C4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7A5EC-3083-35C8-151C-65EA8C28D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61AB87-74A6-77DE-8720-6FC432C109F4}"/>
              </a:ext>
            </a:extLst>
          </p:cNvPr>
          <p:cNvSpPr>
            <a:spLocks noGrp="1"/>
          </p:cNvSpPr>
          <p:nvPr>
            <p:ph type="body" idx="1"/>
          </p:nvPr>
        </p:nvSpPr>
        <p:spPr/>
        <p:txBody>
          <a:bodyPr/>
          <a:lstStyle/>
          <a:p>
            <a:pPr lvl="0"/>
            <a:r>
              <a:rPr lang="en-US" dirty="0"/>
              <a:t>Not all difference is removed. Values stay above 1, so posture causes some reshaping even in BCI. Reshaping is larger in reaching, which the authors attribute to posture-dependent proprioceptive feedback or outgoing muscle commands</a:t>
            </a:r>
          </a:p>
          <a:p>
            <a:pPr lvl="0"/>
            <a:r>
              <a:rPr lang="en-US" dirty="0"/>
              <a:t>Reaching E is marginal (p=0.03)</a:t>
            </a:r>
          </a:p>
          <a:p>
            <a:pPr lvl="0"/>
            <a:r>
              <a:rPr lang="en-US" dirty="0"/>
              <a:t>Monkey R BCI is based on only 3 bin differences (7 for N reaching, 12 for N BCI; Table S1)</a:t>
            </a:r>
          </a:p>
          <a:p>
            <a:pPr lvl="0"/>
            <a:r>
              <a:rPr lang="en-US" dirty="0"/>
              <a:t>Monkey N reaching: within each bin the red points sit below the black points, but the overall means are not different</a:t>
            </a:r>
          </a:p>
          <a:p>
            <a:pPr lvl="0"/>
            <a:r>
              <a:rPr lang="en-US" dirty="0"/>
              <a:t>Isometric force was excluded because it has only two targets 180° apart, so the analysis was uninformative</a:t>
            </a:r>
          </a:p>
          <a:p>
            <a:pPr lvl="0"/>
            <a:r>
              <a:rPr lang="en-US" dirty="0"/>
              <a:t>Translation only (no scaling), and normalized values can be below 1</a:t>
            </a:r>
          </a:p>
          <a:p>
            <a:endParaRPr lang="en-US" dirty="0"/>
          </a:p>
        </p:txBody>
      </p:sp>
      <p:sp>
        <p:nvSpPr>
          <p:cNvPr id="4" name="Slide Number Placeholder 3">
            <a:extLst>
              <a:ext uri="{FF2B5EF4-FFF2-40B4-BE49-F238E27FC236}">
                <a16:creationId xmlns:a16="http://schemas.microsoft.com/office/drawing/2014/main" id="{8BB10EE5-FF0C-4365-DA09-383517FF6114}"/>
              </a:ext>
            </a:extLst>
          </p:cNvPr>
          <p:cNvSpPr>
            <a:spLocks noGrp="1"/>
          </p:cNvSpPr>
          <p:nvPr>
            <p:ph type="sldNum" sz="quarter" idx="5"/>
          </p:nvPr>
        </p:nvSpPr>
        <p:spPr/>
        <p:txBody>
          <a:bodyPr/>
          <a:lstStyle/>
          <a:p>
            <a:fld id="{35C934AA-B4C5-2641-BE4F-C54B45620FFB}" type="slidenum">
              <a:rPr lang="en-US" smtClean="0"/>
              <a:t>14</a:t>
            </a:fld>
            <a:endParaRPr lang="en-US"/>
          </a:p>
        </p:txBody>
      </p:sp>
    </p:spTree>
    <p:extLst>
      <p:ext uri="{BB962C8B-B14F-4D97-AF65-F5344CB8AC3E}">
        <p14:creationId xmlns:p14="http://schemas.microsoft.com/office/powerpoint/2010/main" val="1097294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C934AA-B4C5-2641-BE4F-C54B45620FFB}" type="slidenum">
              <a:rPr lang="en-US" smtClean="0"/>
              <a:t>15</a:t>
            </a:fld>
            <a:endParaRPr lang="en-US"/>
          </a:p>
        </p:txBody>
      </p:sp>
    </p:spTree>
    <p:extLst>
      <p:ext uri="{BB962C8B-B14F-4D97-AF65-F5344CB8AC3E}">
        <p14:creationId xmlns:p14="http://schemas.microsoft.com/office/powerpoint/2010/main" val="4052631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CD11F-31B2-2B32-270F-2AB82D305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01868-E3D2-8512-2590-0E9FBC155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EC535D-12F9-514B-47EC-C9E7370F833D}"/>
              </a:ext>
            </a:extLst>
          </p:cNvPr>
          <p:cNvSpPr>
            <a:spLocks noGrp="1"/>
          </p:cNvSpPr>
          <p:nvPr>
            <p:ph type="body" idx="1"/>
          </p:nvPr>
        </p:nvSpPr>
        <p:spPr/>
        <p:txBody>
          <a:bodyPr/>
          <a:lstStyle/>
          <a:p>
            <a:pPr lvl="0"/>
            <a:r>
              <a:rPr lang="en-US" dirty="0"/>
              <a:t>Not all difference is removed. Values stay above 1, so posture causes some reshaping even in BCI. Reshaping is larger in reaching, which the authors attribute to posture-dependent proprioceptive feedback or outgoing muscle commands</a:t>
            </a:r>
          </a:p>
          <a:p>
            <a:pPr lvl="0"/>
            <a:r>
              <a:rPr lang="en-US" dirty="0"/>
              <a:t>Reaching E is marginal (p=0.03)</a:t>
            </a:r>
          </a:p>
          <a:p>
            <a:pPr lvl="0"/>
            <a:r>
              <a:rPr lang="en-US" dirty="0"/>
              <a:t>Monkey R BCI is based on only 3 bin differences (7 for N reaching, 12 for N BCI; Table S1)</a:t>
            </a:r>
          </a:p>
          <a:p>
            <a:pPr lvl="0"/>
            <a:r>
              <a:rPr lang="en-US" dirty="0"/>
              <a:t>Monkey N reaching: within each bin the red points sit below the black points, but the overall means are not different</a:t>
            </a:r>
          </a:p>
          <a:p>
            <a:pPr lvl="0"/>
            <a:r>
              <a:rPr lang="en-US" dirty="0"/>
              <a:t>Isometric force was excluded because it has only two targets 180° apart, so the analysis was uninformative</a:t>
            </a:r>
          </a:p>
          <a:p>
            <a:pPr lvl="0"/>
            <a:r>
              <a:rPr lang="en-US" dirty="0"/>
              <a:t>Translation only (no scaling), and normalized values can be below 1</a:t>
            </a:r>
          </a:p>
          <a:p>
            <a:endParaRPr lang="en-US" dirty="0"/>
          </a:p>
        </p:txBody>
      </p:sp>
      <p:sp>
        <p:nvSpPr>
          <p:cNvPr id="4" name="Slide Number Placeholder 3">
            <a:extLst>
              <a:ext uri="{FF2B5EF4-FFF2-40B4-BE49-F238E27FC236}">
                <a16:creationId xmlns:a16="http://schemas.microsoft.com/office/drawing/2014/main" id="{16BE9B8B-BBCE-05A4-9AF6-86E0F542E4F8}"/>
              </a:ext>
            </a:extLst>
          </p:cNvPr>
          <p:cNvSpPr>
            <a:spLocks noGrp="1"/>
          </p:cNvSpPr>
          <p:nvPr>
            <p:ph type="sldNum" sz="quarter" idx="5"/>
          </p:nvPr>
        </p:nvSpPr>
        <p:spPr/>
        <p:txBody>
          <a:bodyPr/>
          <a:lstStyle/>
          <a:p>
            <a:fld id="{35C934AA-B4C5-2641-BE4F-C54B45620FFB}" type="slidenum">
              <a:rPr lang="en-US" smtClean="0"/>
              <a:t>20</a:t>
            </a:fld>
            <a:endParaRPr lang="en-US"/>
          </a:p>
        </p:txBody>
      </p:sp>
    </p:spTree>
    <p:extLst>
      <p:ext uri="{BB962C8B-B14F-4D97-AF65-F5344CB8AC3E}">
        <p14:creationId xmlns:p14="http://schemas.microsoft.com/office/powerpoint/2010/main" val="1708988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9/23/26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07365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9/23/26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06848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9/23/26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14678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9/23/26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27389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9/23/26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64875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9/23/26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72916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9/23/26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98101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9/23/26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79450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9/23/26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80693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9/23/26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77457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9/23/26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65243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9/23/26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2530773"/>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Understanding Principal Component Analysis | HackerNoon">
            <a:extLst>
              <a:ext uri="{FF2B5EF4-FFF2-40B4-BE49-F238E27FC236}">
                <a16:creationId xmlns:a16="http://schemas.microsoft.com/office/drawing/2014/main" id="{FF935FE0-87C9-72C0-3265-78097C2591D6}"/>
              </a:ext>
            </a:extLst>
          </p:cNvPr>
          <p:cNvPicPr>
            <a:picLocks noChangeAspect="1"/>
          </p:cNvPicPr>
          <p:nvPr/>
        </p:nvPicPr>
        <p:blipFill>
          <a:blip r:embed="rId3"/>
          <a:srcRect t="21482" r="9091" b="3866"/>
          <a:stretch>
            <a:fillRect/>
          </a:stretch>
        </p:blipFill>
        <p:spPr>
          <a:xfrm>
            <a:off x="20" y="10"/>
            <a:ext cx="12191979" cy="6857990"/>
          </a:xfrm>
          <a:prstGeom prst="rect">
            <a:avLst/>
          </a:prstGeom>
        </p:spPr>
      </p:pic>
      <p:sp>
        <p:nvSpPr>
          <p:cNvPr id="50" name="Rectangle 49">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90337CDD-FB8F-08AA-C980-18B93D575983}"/>
              </a:ext>
            </a:extLst>
          </p:cNvPr>
          <p:cNvSpPr>
            <a:spLocks noGrp="1"/>
          </p:cNvSpPr>
          <p:nvPr>
            <p:ph type="ctrTitle"/>
          </p:nvPr>
        </p:nvSpPr>
        <p:spPr>
          <a:xfrm>
            <a:off x="313786" y="908651"/>
            <a:ext cx="5230366" cy="4005454"/>
          </a:xfrm>
        </p:spPr>
        <p:txBody>
          <a:bodyPr anchor="t">
            <a:normAutofit/>
          </a:bodyPr>
          <a:lstStyle/>
          <a:p>
            <a:pPr>
              <a:lnSpc>
                <a:spcPct val="90000"/>
              </a:lnSpc>
            </a:pPr>
            <a:r>
              <a:rPr lang="en-US" sz="5800"/>
              <a:t>A posture subspace in the primary motor cortex</a:t>
            </a:r>
          </a:p>
        </p:txBody>
      </p:sp>
      <p:sp>
        <p:nvSpPr>
          <p:cNvPr id="3" name="Subtitle 2">
            <a:extLst>
              <a:ext uri="{FF2B5EF4-FFF2-40B4-BE49-F238E27FC236}">
                <a16:creationId xmlns:a16="http://schemas.microsoft.com/office/drawing/2014/main" id="{3C051B49-10DB-91AA-E7F1-69FAACD11278}"/>
              </a:ext>
            </a:extLst>
          </p:cNvPr>
          <p:cNvSpPr>
            <a:spLocks noGrp="1"/>
          </p:cNvSpPr>
          <p:nvPr>
            <p:ph type="subTitle" idx="1"/>
          </p:nvPr>
        </p:nvSpPr>
        <p:spPr>
          <a:xfrm>
            <a:off x="313787" y="5050632"/>
            <a:ext cx="3793200" cy="1129888"/>
          </a:xfrm>
        </p:spPr>
        <p:txBody>
          <a:bodyPr anchor="b">
            <a:normAutofit/>
          </a:bodyPr>
          <a:lstStyle/>
          <a:p>
            <a:pPr>
              <a:lnSpc>
                <a:spcPct val="100000"/>
              </a:lnSpc>
            </a:pPr>
            <a:r>
              <a:rPr lang="en-US" sz="1400"/>
              <a:t>Patrick J Marino, …, Byron M Yu, Aaron P Batista</a:t>
            </a:r>
          </a:p>
          <a:p>
            <a:pPr>
              <a:lnSpc>
                <a:spcPct val="100000"/>
              </a:lnSpc>
            </a:pPr>
            <a:r>
              <a:rPr lang="en-US" sz="1400"/>
              <a:t>Carnegie Mellon and University of Pittsburgh, Neurosurgery</a:t>
            </a:r>
          </a:p>
        </p:txBody>
      </p:sp>
      <p:cxnSp>
        <p:nvCxnSpPr>
          <p:cNvPr id="51" name="Straight Connector 50">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026922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773D5-3CA8-F170-250D-D012D4CE7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9DA55-C2C3-BBDD-61E5-CE83AE176542}"/>
              </a:ext>
            </a:extLst>
          </p:cNvPr>
          <p:cNvSpPr>
            <a:spLocks noGrp="1"/>
          </p:cNvSpPr>
          <p:nvPr>
            <p:ph type="title"/>
          </p:nvPr>
        </p:nvSpPr>
        <p:spPr/>
        <p:txBody>
          <a:bodyPr/>
          <a:lstStyle/>
          <a:p>
            <a:r>
              <a:rPr lang="en-US" dirty="0"/>
              <a:t>Ethical Statement </a:t>
            </a:r>
          </a:p>
        </p:txBody>
      </p:sp>
      <p:sp>
        <p:nvSpPr>
          <p:cNvPr id="3" name="Content Placeholder 2">
            <a:extLst>
              <a:ext uri="{FF2B5EF4-FFF2-40B4-BE49-F238E27FC236}">
                <a16:creationId xmlns:a16="http://schemas.microsoft.com/office/drawing/2014/main" id="{1ED1108E-9528-4524-EDD5-258215B3AD9E}"/>
              </a:ext>
            </a:extLst>
          </p:cNvPr>
          <p:cNvSpPr>
            <a:spLocks noGrp="1"/>
          </p:cNvSpPr>
          <p:nvPr>
            <p:ph idx="1"/>
          </p:nvPr>
        </p:nvSpPr>
        <p:spPr/>
        <p:txBody>
          <a:bodyPr>
            <a:normAutofit/>
          </a:bodyPr>
          <a:lstStyle/>
          <a:p>
            <a:r>
              <a:rPr lang="en-US" dirty="0"/>
              <a:t>3 NHPs (E, N, R) with Utah arrays in M1 (and </a:t>
            </a:r>
            <a:r>
              <a:rPr lang="en-US" dirty="0" err="1"/>
              <a:t>PMd</a:t>
            </a:r>
            <a:r>
              <a:rPr lang="en-US" dirty="0"/>
              <a:t> for E)</a:t>
            </a:r>
          </a:p>
          <a:p>
            <a:r>
              <a:rPr lang="en-US" dirty="0"/>
              <a:t>Experiments at the University of Pittsburgh (E) and Carnegie Mellon (N, R)</a:t>
            </a:r>
          </a:p>
          <a:p>
            <a:r>
              <a:rPr lang="en-US" dirty="0"/>
              <a:t>All handling approved by the respective Institutional Animal Care and Use Committees</a:t>
            </a:r>
          </a:p>
          <a:p>
            <a:r>
              <a:rPr lang="en-US" dirty="0"/>
              <a:t>Ipsilateral arm was braced and trials were ended if force on the arm was too high</a:t>
            </a:r>
          </a:p>
          <a:p>
            <a:r>
              <a:rPr lang="en-US" dirty="0"/>
              <a:t>Several authors are inventors on a provisional patent for a "posture-invariant brain-computer interface"</a:t>
            </a:r>
          </a:p>
        </p:txBody>
      </p:sp>
    </p:spTree>
    <p:extLst>
      <p:ext uri="{BB962C8B-B14F-4D97-AF65-F5344CB8AC3E}">
        <p14:creationId xmlns:p14="http://schemas.microsoft.com/office/powerpoint/2010/main" val="2917742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EADB1-1A69-2607-0B97-A6BE6C26BB8A}"/>
              </a:ext>
            </a:extLst>
          </p:cNvPr>
          <p:cNvSpPr>
            <a:spLocks noGrp="1"/>
          </p:cNvSpPr>
          <p:nvPr>
            <p:ph type="title"/>
          </p:nvPr>
        </p:nvSpPr>
        <p:spPr/>
        <p:txBody>
          <a:bodyPr/>
          <a:lstStyle/>
          <a:p>
            <a:r>
              <a:rPr lang="en-US" dirty="0"/>
              <a:t>Purpose</a:t>
            </a:r>
          </a:p>
        </p:txBody>
      </p:sp>
      <p:sp>
        <p:nvSpPr>
          <p:cNvPr id="3" name="Content Placeholder 2">
            <a:extLst>
              <a:ext uri="{FF2B5EF4-FFF2-40B4-BE49-F238E27FC236}">
                <a16:creationId xmlns:a16="http://schemas.microsoft.com/office/drawing/2014/main" id="{BC059299-3315-5E23-5EAC-B5AC58E69B3B}"/>
              </a:ext>
            </a:extLst>
          </p:cNvPr>
          <p:cNvSpPr>
            <a:spLocks noGrp="1"/>
          </p:cNvSpPr>
          <p:nvPr>
            <p:ph idx="1"/>
          </p:nvPr>
        </p:nvSpPr>
        <p:spPr>
          <a:xfrm>
            <a:off x="700635" y="2221992"/>
            <a:ext cx="7139623" cy="3739896"/>
          </a:xfrm>
        </p:spPr>
        <p:txBody>
          <a:bodyPr>
            <a:normAutofit fontScale="77500" lnSpcReduction="20000"/>
          </a:bodyPr>
          <a:lstStyle/>
          <a:p>
            <a:r>
              <a:rPr lang="en-US" dirty="0"/>
              <a:t>Its early in the morning and your alarm goes off on your nightstand. Regardless of how you are sleeping, or the relative position of the alarm to you, you can accurately reach out and hit the snooze for 5 more minutes button</a:t>
            </a:r>
          </a:p>
          <a:p>
            <a:r>
              <a:rPr lang="en-US" dirty="0"/>
              <a:t>The muscle activity, however, that is needed for the same reach differs across postures, so the brain must combine goal and posture information to generate muscle commands </a:t>
            </a:r>
          </a:p>
          <a:p>
            <a:r>
              <a:rPr lang="en-US" dirty="0"/>
              <a:t>M1 receives goal information from premotor and parietal cortex, receives posture information from somatosensory and parietal cortex and the cerebellum</a:t>
            </a:r>
          </a:p>
          <a:p>
            <a:r>
              <a:rPr lang="en-US" dirty="0"/>
              <a:t>Prior work has shown changes in M1 activity as posture is varied at a single neuron level</a:t>
            </a:r>
          </a:p>
          <a:p>
            <a:r>
              <a:rPr lang="en-US" dirty="0"/>
              <a:t>Other research has shown simple separable latent dynamics at population levels</a:t>
            </a:r>
          </a:p>
        </p:txBody>
      </p:sp>
      <p:pic>
        <p:nvPicPr>
          <p:cNvPr id="5" name="Picture 4" descr="Frontiers | Targeting Sensory and Motor Integration for Recovery of  Movement After CNS Injury">
            <a:extLst>
              <a:ext uri="{FF2B5EF4-FFF2-40B4-BE49-F238E27FC236}">
                <a16:creationId xmlns:a16="http://schemas.microsoft.com/office/drawing/2014/main" id="{1F602009-7748-F4C3-AA9D-97B54831E42E}"/>
              </a:ext>
            </a:extLst>
          </p:cNvPr>
          <p:cNvPicPr>
            <a:picLocks noChangeAspect="1"/>
          </p:cNvPicPr>
          <p:nvPr/>
        </p:nvPicPr>
        <p:blipFill>
          <a:blip r:embed="rId3"/>
          <a:stretch>
            <a:fillRect/>
          </a:stretch>
        </p:blipFill>
        <p:spPr>
          <a:xfrm>
            <a:off x="7840259" y="1747430"/>
            <a:ext cx="4351741" cy="3840249"/>
          </a:xfrm>
          <a:prstGeom prst="rect">
            <a:avLst/>
          </a:prstGeom>
        </p:spPr>
      </p:pic>
    </p:spTree>
    <p:extLst>
      <p:ext uri="{BB962C8B-B14F-4D97-AF65-F5344CB8AC3E}">
        <p14:creationId xmlns:p14="http://schemas.microsoft.com/office/powerpoint/2010/main" val="343454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202BD-3AA9-68F4-9162-4F8E9DD5E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940EC9-4BEA-0731-ECA8-8E90BED344AC}"/>
              </a:ext>
            </a:extLst>
          </p:cNvPr>
          <p:cNvSpPr>
            <a:spLocks noGrp="1"/>
          </p:cNvSpPr>
          <p:nvPr>
            <p:ph type="title"/>
          </p:nvPr>
        </p:nvSpPr>
        <p:spPr>
          <a:xfrm>
            <a:off x="747502" y="2512473"/>
            <a:ext cx="10696995" cy="1833054"/>
          </a:xfrm>
        </p:spPr>
        <p:txBody>
          <a:bodyPr>
            <a:noAutofit/>
          </a:bodyPr>
          <a:lstStyle/>
          <a:p>
            <a:r>
              <a:rPr lang="en-US" sz="3200" dirty="0"/>
              <a:t>How are posture and goal signals organized within M1 Neuronal activity to allow us to have goal-oriented behavior from different positions?</a:t>
            </a:r>
          </a:p>
        </p:txBody>
      </p:sp>
    </p:spTree>
    <p:extLst>
      <p:ext uri="{BB962C8B-B14F-4D97-AF65-F5344CB8AC3E}">
        <p14:creationId xmlns:p14="http://schemas.microsoft.com/office/powerpoint/2010/main" val="718566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E8FA19-1982-B31E-A95C-69F29B7C62A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D3BF0A-62DB-1DC3-5A0B-65460FB88DEA}"/>
              </a:ext>
            </a:extLst>
          </p:cNvPr>
          <p:cNvSpPr>
            <a:spLocks noGrp="1"/>
          </p:cNvSpPr>
          <p:nvPr>
            <p:ph type="title"/>
          </p:nvPr>
        </p:nvSpPr>
        <p:spPr>
          <a:xfrm>
            <a:off x="704088" y="914400"/>
            <a:ext cx="3799763" cy="1473200"/>
          </a:xfrm>
        </p:spPr>
        <p:txBody>
          <a:bodyPr>
            <a:normAutofit/>
          </a:bodyPr>
          <a:lstStyle/>
          <a:p>
            <a:pPr>
              <a:lnSpc>
                <a:spcPct val="90000"/>
              </a:lnSpc>
            </a:pPr>
            <a:r>
              <a:rPr lang="en-US" sz="3100"/>
              <a:t>2 hypotheses exist for postural control</a:t>
            </a:r>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CCF402D-60A9-0DD2-778B-4D28518B7E33}"/>
              </a:ext>
            </a:extLst>
          </p:cNvPr>
          <p:cNvSpPr>
            <a:spLocks noGrp="1"/>
          </p:cNvSpPr>
          <p:nvPr>
            <p:ph idx="1"/>
          </p:nvPr>
        </p:nvSpPr>
        <p:spPr>
          <a:xfrm>
            <a:off x="704088" y="2387600"/>
            <a:ext cx="3799763" cy="3767328"/>
          </a:xfrm>
        </p:spPr>
        <p:txBody>
          <a:bodyPr>
            <a:normAutofit/>
          </a:bodyPr>
          <a:lstStyle/>
          <a:p>
            <a:pPr>
              <a:lnSpc>
                <a:spcPct val="100000"/>
              </a:lnSpc>
            </a:pPr>
            <a:r>
              <a:rPr lang="en-US" sz="1500"/>
              <a:t>Hypothesis 1 (complex): posture and goal interact non-separably. Neural trajectories for a given movement direction would change shape substantially across postures </a:t>
            </a:r>
          </a:p>
          <a:p>
            <a:pPr>
              <a:lnSpc>
                <a:spcPct val="100000"/>
              </a:lnSpc>
            </a:pPr>
            <a:r>
              <a:rPr lang="en-US" sz="1500"/>
              <a:t>Hypothesis 2 (simple): posture and goal components are separable </a:t>
            </a:r>
          </a:p>
          <a:p>
            <a:pPr lvl="1">
              <a:lnSpc>
                <a:spcPct val="100000"/>
              </a:lnSpc>
            </a:pPr>
            <a:r>
              <a:rPr lang="en-US" sz="1500"/>
              <a:t>A change in posture shifts neural activity consistently across movement directions </a:t>
            </a:r>
          </a:p>
          <a:p>
            <a:pPr lvl="1">
              <a:lnSpc>
                <a:spcPct val="100000"/>
              </a:lnSpc>
            </a:pPr>
            <a:r>
              <a:rPr lang="en-US" sz="1500"/>
              <a:t>Trajectories for each movement direction have similar shapes across postures</a:t>
            </a:r>
          </a:p>
        </p:txBody>
      </p:sp>
      <p:pic>
        <p:nvPicPr>
          <p:cNvPr id="6" name="Picture 5">
            <a:extLst>
              <a:ext uri="{FF2B5EF4-FFF2-40B4-BE49-F238E27FC236}">
                <a16:creationId xmlns:a16="http://schemas.microsoft.com/office/drawing/2014/main" id="{A199311E-4BFA-4246-0B5E-7EF1675A8CAA}"/>
              </a:ext>
            </a:extLst>
          </p:cNvPr>
          <p:cNvPicPr>
            <a:picLocks noChangeAspect="1"/>
          </p:cNvPicPr>
          <p:nvPr/>
        </p:nvPicPr>
        <p:blipFill>
          <a:blip r:embed="rId3"/>
          <a:stretch>
            <a:fillRect/>
          </a:stretch>
        </p:blipFill>
        <p:spPr>
          <a:xfrm>
            <a:off x="5060146" y="488950"/>
            <a:ext cx="6086274" cy="5531295"/>
          </a:xfrm>
          <a:prstGeom prst="rect">
            <a:avLst/>
          </a:prstGeom>
        </p:spPr>
      </p:pic>
    </p:spTree>
    <p:extLst>
      <p:ext uri="{BB962C8B-B14F-4D97-AF65-F5344CB8AC3E}">
        <p14:creationId xmlns:p14="http://schemas.microsoft.com/office/powerpoint/2010/main" val="26744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1334AB-751B-4E78-1FD2-9BA7CFC4771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B114D8-EC5C-5168-AC35-9AB2DE4AFB9E}"/>
              </a:ext>
            </a:extLst>
          </p:cNvPr>
          <p:cNvSpPr>
            <a:spLocks noGrp="1"/>
          </p:cNvSpPr>
          <p:nvPr>
            <p:ph type="title"/>
          </p:nvPr>
        </p:nvSpPr>
        <p:spPr>
          <a:xfrm>
            <a:off x="5248656" y="914400"/>
            <a:ext cx="6236208" cy="1307592"/>
          </a:xfrm>
        </p:spPr>
        <p:txBody>
          <a:bodyPr>
            <a:normAutofit/>
          </a:bodyPr>
          <a:lstStyle/>
          <a:p>
            <a:r>
              <a:rPr lang="en-US" dirty="0"/>
              <a:t>Implant Information</a:t>
            </a:r>
          </a:p>
        </p:txBody>
      </p:sp>
      <p:pic>
        <p:nvPicPr>
          <p:cNvPr id="4" name="Picture 3">
            <a:extLst>
              <a:ext uri="{FF2B5EF4-FFF2-40B4-BE49-F238E27FC236}">
                <a16:creationId xmlns:a16="http://schemas.microsoft.com/office/drawing/2014/main" id="{4303C1C7-AA8E-BC6A-BECB-0A8AC1D310E7}"/>
              </a:ext>
            </a:extLst>
          </p:cNvPr>
          <p:cNvPicPr>
            <a:picLocks noChangeAspect="1"/>
          </p:cNvPicPr>
          <p:nvPr/>
        </p:nvPicPr>
        <p:blipFill>
          <a:blip r:embed="rId2"/>
          <a:srcRect r="32512" b="3"/>
          <a:stretch>
            <a:fillRect/>
          </a:stretch>
        </p:blipFill>
        <p:spPr>
          <a:xfrm>
            <a:off x="20" y="-1"/>
            <a:ext cx="4663420" cy="6858001"/>
          </a:xfrm>
          <a:prstGeom prst="rect">
            <a:avLst/>
          </a:prstGeom>
        </p:spPr>
      </p:pic>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46871"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A2F8DD2-58C5-6719-4356-CE4D664927E4}"/>
              </a:ext>
            </a:extLst>
          </p:cNvPr>
          <p:cNvSpPr>
            <a:spLocks noGrp="1"/>
          </p:cNvSpPr>
          <p:nvPr>
            <p:ph idx="1"/>
          </p:nvPr>
        </p:nvSpPr>
        <p:spPr>
          <a:xfrm>
            <a:off x="5248656" y="2221992"/>
            <a:ext cx="6236208" cy="3941064"/>
          </a:xfrm>
        </p:spPr>
        <p:txBody>
          <a:bodyPr>
            <a:normAutofit/>
          </a:bodyPr>
          <a:lstStyle/>
          <a:p>
            <a:pPr>
              <a:lnSpc>
                <a:spcPct val="100000"/>
              </a:lnSpc>
            </a:pPr>
            <a:r>
              <a:rPr lang="en-US" dirty="0"/>
              <a:t>Monkey E, Array 1: one 96-channel array close to the shoulder regions of M1 and dorsal </a:t>
            </a:r>
            <a:r>
              <a:rPr lang="en-US" dirty="0" err="1"/>
              <a:t>PMd</a:t>
            </a:r>
            <a:r>
              <a:rPr lang="en-US" dirty="0"/>
              <a:t>, </a:t>
            </a:r>
            <a:r>
              <a:rPr lang="en-US" b="1" dirty="0"/>
              <a:t>left hemisphere</a:t>
            </a:r>
            <a:r>
              <a:rPr lang="en-US" dirty="0"/>
              <a:t>. Monkey E, Array 2: after retraining with the left arm, two 64-channel arrays (one </a:t>
            </a:r>
            <a:r>
              <a:rPr lang="en-US" dirty="0" err="1"/>
              <a:t>PMd</a:t>
            </a:r>
            <a:r>
              <a:rPr lang="en-US" dirty="0"/>
              <a:t>, one M1) in the </a:t>
            </a:r>
            <a:r>
              <a:rPr lang="en-US" b="1" dirty="0"/>
              <a:t>right hemisphere </a:t>
            </a:r>
          </a:p>
          <a:p>
            <a:pPr>
              <a:lnSpc>
                <a:spcPct val="100000"/>
              </a:lnSpc>
            </a:pPr>
            <a:r>
              <a:rPr lang="en-US" dirty="0"/>
              <a:t>Monkey N: one 96-channel array in M1, left hemisphere </a:t>
            </a:r>
          </a:p>
          <a:p>
            <a:pPr>
              <a:lnSpc>
                <a:spcPct val="100000"/>
              </a:lnSpc>
            </a:pPr>
            <a:r>
              <a:rPr lang="en-US" dirty="0"/>
              <a:t>Monkey R: two adjacent 96-channel arrays in M1, left hemisphere </a:t>
            </a:r>
          </a:p>
          <a:p>
            <a:pPr>
              <a:lnSpc>
                <a:spcPct val="100000"/>
              </a:lnSpc>
            </a:pPr>
            <a:r>
              <a:rPr lang="en-US" dirty="0"/>
              <a:t>M1 and </a:t>
            </a:r>
            <a:r>
              <a:rPr lang="en-US" dirty="0" err="1"/>
              <a:t>PMd</a:t>
            </a:r>
            <a:r>
              <a:rPr lang="en-US" dirty="0"/>
              <a:t> recordings were pooled</a:t>
            </a:r>
          </a:p>
        </p:txBody>
      </p:sp>
    </p:spTree>
    <p:extLst>
      <p:ext uri="{BB962C8B-B14F-4D97-AF65-F5344CB8AC3E}">
        <p14:creationId xmlns:p14="http://schemas.microsoft.com/office/powerpoint/2010/main" val="3407238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E20DB-1249-39C5-55D6-810AA9DDD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5EDFE-9860-7F5B-AB06-4DC16D6F1BB6}"/>
              </a:ext>
            </a:extLst>
          </p:cNvPr>
          <p:cNvSpPr>
            <a:spLocks noGrp="1"/>
          </p:cNvSpPr>
          <p:nvPr>
            <p:ph type="title"/>
          </p:nvPr>
        </p:nvSpPr>
        <p:spPr/>
        <p:txBody>
          <a:bodyPr>
            <a:normAutofit/>
          </a:bodyPr>
          <a:lstStyle/>
          <a:p>
            <a:r>
              <a:rPr lang="en-US" dirty="0"/>
              <a:t>Recording </a:t>
            </a:r>
          </a:p>
        </p:txBody>
      </p:sp>
      <p:sp>
        <p:nvSpPr>
          <p:cNvPr id="3" name="Content Placeholder 2">
            <a:extLst>
              <a:ext uri="{FF2B5EF4-FFF2-40B4-BE49-F238E27FC236}">
                <a16:creationId xmlns:a16="http://schemas.microsoft.com/office/drawing/2014/main" id="{6EF52CF4-8B7B-7E2E-F575-540132547C35}"/>
              </a:ext>
            </a:extLst>
          </p:cNvPr>
          <p:cNvSpPr>
            <a:spLocks noGrp="1"/>
          </p:cNvSpPr>
          <p:nvPr>
            <p:ph idx="1"/>
          </p:nvPr>
        </p:nvSpPr>
        <p:spPr>
          <a:xfrm>
            <a:off x="700635" y="2045011"/>
            <a:ext cx="10286913" cy="3739896"/>
          </a:xfrm>
        </p:spPr>
        <p:txBody>
          <a:bodyPr>
            <a:normAutofit fontScale="85000" lnSpcReduction="10000"/>
          </a:bodyPr>
          <a:lstStyle/>
          <a:p>
            <a:pPr lvl="0"/>
            <a:r>
              <a:rPr lang="en-US" dirty="0"/>
              <a:t>Spikes were detected by threshold crossing at 3x (E) or 3.5x (N, R) the RMS voltage </a:t>
            </a:r>
          </a:p>
          <a:p>
            <a:pPr lvl="0"/>
            <a:r>
              <a:rPr lang="en-US" dirty="0"/>
              <a:t>Channels that looked like noise or electrical shorts were excluded </a:t>
            </a:r>
          </a:p>
          <a:p>
            <a:pPr lvl="0"/>
            <a:r>
              <a:rPr lang="en-US" dirty="0"/>
              <a:t>Monkey E: each channel treated as one unsorted unit</a:t>
            </a:r>
          </a:p>
          <a:p>
            <a:pPr lvl="0"/>
            <a:r>
              <a:rPr lang="en-US" dirty="0"/>
              <a:t>Monkeys N and R: waveforms sorted online </a:t>
            </a:r>
          </a:p>
          <a:p>
            <a:pPr lvl="0"/>
            <a:r>
              <a:rPr lang="en-US" dirty="0"/>
              <a:t>Units per session (mean ± SD): E Array 1: 87.5 ± 0.5; E Array 2: 109.6 ± 0.9; N: 64.3 ± 13.5; R: 120.75 ± 48.9 </a:t>
            </a:r>
          </a:p>
          <a:p>
            <a:pPr lvl="1"/>
            <a:r>
              <a:rPr lang="en-US" dirty="0"/>
              <a:t>Unit counts vary widely across sessions for N and R (64.3 ± 13.5 and 120.75 ± 48.9)</a:t>
            </a:r>
          </a:p>
          <a:p>
            <a:pPr lvl="0"/>
            <a:r>
              <a:rPr lang="en-US" dirty="0"/>
              <a:t>Hand kinematics (reaching): infrared LED marker tracked at 120 Hz (E, </a:t>
            </a:r>
            <a:r>
              <a:rPr lang="en-US" dirty="0" err="1"/>
              <a:t>PhaseSpace</a:t>
            </a:r>
            <a:r>
              <a:rPr lang="en-US" dirty="0"/>
              <a:t>) or 60 Hz (N, R, </a:t>
            </a:r>
            <a:r>
              <a:rPr lang="en-US" dirty="0" err="1"/>
              <a:t>Optotrak</a:t>
            </a:r>
            <a:r>
              <a:rPr lang="en-US" dirty="0"/>
              <a:t> 3020). Also recorded for some of E's BCI and isometric sessions </a:t>
            </a:r>
          </a:p>
          <a:p>
            <a:pPr lvl="0"/>
            <a:r>
              <a:rPr lang="en-US" dirty="0"/>
              <a:t>Hand forces (E): ATI Mini40 force transducer on a metal cylindrical handle. All force thresholds are expressed relative to the rest force of the resting arm</a:t>
            </a:r>
          </a:p>
        </p:txBody>
      </p:sp>
    </p:spTree>
    <p:extLst>
      <p:ext uri="{BB962C8B-B14F-4D97-AF65-F5344CB8AC3E}">
        <p14:creationId xmlns:p14="http://schemas.microsoft.com/office/powerpoint/2010/main" val="3975088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A39CC-2F71-A1A1-A5FD-ACD1CBD7C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8C9CB-637C-76FF-028B-3ADC0D8A17E8}"/>
              </a:ext>
            </a:extLst>
          </p:cNvPr>
          <p:cNvSpPr>
            <a:spLocks noGrp="1"/>
          </p:cNvSpPr>
          <p:nvPr>
            <p:ph type="title"/>
          </p:nvPr>
        </p:nvSpPr>
        <p:spPr/>
        <p:txBody>
          <a:bodyPr>
            <a:normAutofit/>
          </a:bodyPr>
          <a:lstStyle/>
          <a:p>
            <a:r>
              <a:rPr lang="en-US" dirty="0"/>
              <a:t>Tasks  </a:t>
            </a:r>
          </a:p>
        </p:txBody>
      </p:sp>
      <p:sp>
        <p:nvSpPr>
          <p:cNvPr id="3" name="Content Placeholder 2">
            <a:extLst>
              <a:ext uri="{FF2B5EF4-FFF2-40B4-BE49-F238E27FC236}">
                <a16:creationId xmlns:a16="http://schemas.microsoft.com/office/drawing/2014/main" id="{6266415D-60C9-2851-F32A-7F0220BD89CE}"/>
              </a:ext>
            </a:extLst>
          </p:cNvPr>
          <p:cNvSpPr>
            <a:spLocks noGrp="1"/>
          </p:cNvSpPr>
          <p:nvPr>
            <p:ph idx="1"/>
          </p:nvPr>
        </p:nvSpPr>
        <p:spPr>
          <a:xfrm>
            <a:off x="700636" y="2045011"/>
            <a:ext cx="6470874" cy="3739896"/>
          </a:xfrm>
        </p:spPr>
        <p:txBody>
          <a:bodyPr>
            <a:normAutofit fontScale="77500" lnSpcReduction="20000"/>
          </a:bodyPr>
          <a:lstStyle/>
          <a:p>
            <a:pPr lvl="0"/>
            <a:r>
              <a:rPr lang="en-US" dirty="0"/>
              <a:t>BCI: 8-target center-out, arm still, and a new decoder calibrated for each posture (100–200 trials per block)</a:t>
            </a:r>
          </a:p>
          <a:p>
            <a:pPr lvl="0"/>
            <a:r>
              <a:rPr lang="en-US" dirty="0"/>
              <a:t>Isometric force (E only): up/down force to a peripheral target (4.75 ± 0.62 N), with five shoulder-rotation postures</a:t>
            </a:r>
          </a:p>
          <a:p>
            <a:pPr lvl="0"/>
            <a:r>
              <a:rPr lang="en-US" dirty="0"/>
              <a:t>Reaching: center-out for N and R (posture = 2 initial hand locations, 123.7 mm apart) and delayed center-out for E Array 2 (7 initial hand locations)</a:t>
            </a:r>
          </a:p>
          <a:p>
            <a:pPr lvl="0"/>
            <a:r>
              <a:rPr lang="en-US" dirty="0"/>
              <a:t>Multi-task (E only): BCI, isometric and reaching in a single session at the same three postures (neutral, ±30° shoulder rotation)</a:t>
            </a:r>
          </a:p>
          <a:p>
            <a:pPr lvl="0"/>
            <a:r>
              <a:rPr lang="en-US" dirty="0"/>
              <a:t>Posture manipulation: </a:t>
            </a:r>
          </a:p>
          <a:p>
            <a:pPr lvl="1"/>
            <a:r>
              <a:rPr lang="en-US" dirty="0"/>
              <a:t>E fine: 15° steps about the shoulder or elbow via a mechanical device</a:t>
            </a:r>
          </a:p>
          <a:p>
            <a:pPr lvl="1"/>
            <a:r>
              <a:rPr lang="en-US" dirty="0"/>
              <a:t>N and R coarse: 45° forearm rotation, or 90° upper-arm abduction, via a brace</a:t>
            </a:r>
          </a:p>
        </p:txBody>
      </p:sp>
      <p:pic>
        <p:nvPicPr>
          <p:cNvPr id="4" name="Picture 3">
            <a:extLst>
              <a:ext uri="{FF2B5EF4-FFF2-40B4-BE49-F238E27FC236}">
                <a16:creationId xmlns:a16="http://schemas.microsoft.com/office/drawing/2014/main" id="{A5240472-5583-E713-CFD5-14391D64A3B1}"/>
              </a:ext>
            </a:extLst>
          </p:cNvPr>
          <p:cNvPicPr>
            <a:picLocks noChangeAspect="1"/>
          </p:cNvPicPr>
          <p:nvPr/>
        </p:nvPicPr>
        <p:blipFill>
          <a:blip r:embed="rId2"/>
          <a:stretch>
            <a:fillRect/>
          </a:stretch>
        </p:blipFill>
        <p:spPr>
          <a:xfrm>
            <a:off x="7439378" y="955112"/>
            <a:ext cx="1503084" cy="2179797"/>
          </a:xfrm>
          <a:prstGeom prst="rect">
            <a:avLst/>
          </a:prstGeom>
        </p:spPr>
      </p:pic>
      <p:pic>
        <p:nvPicPr>
          <p:cNvPr id="5" name="Picture 4">
            <a:extLst>
              <a:ext uri="{FF2B5EF4-FFF2-40B4-BE49-F238E27FC236}">
                <a16:creationId xmlns:a16="http://schemas.microsoft.com/office/drawing/2014/main" id="{6DF415F7-8A8C-2635-32C7-94BB130BE4A5}"/>
              </a:ext>
            </a:extLst>
          </p:cNvPr>
          <p:cNvPicPr>
            <a:picLocks noChangeAspect="1"/>
          </p:cNvPicPr>
          <p:nvPr/>
        </p:nvPicPr>
        <p:blipFill>
          <a:blip r:embed="rId3"/>
          <a:stretch>
            <a:fillRect/>
          </a:stretch>
        </p:blipFill>
        <p:spPr>
          <a:xfrm>
            <a:off x="9210331" y="992358"/>
            <a:ext cx="2181569" cy="2176274"/>
          </a:xfrm>
          <a:prstGeom prst="rect">
            <a:avLst/>
          </a:prstGeom>
        </p:spPr>
      </p:pic>
      <p:pic>
        <p:nvPicPr>
          <p:cNvPr id="6" name="Picture 5">
            <a:extLst>
              <a:ext uri="{FF2B5EF4-FFF2-40B4-BE49-F238E27FC236}">
                <a16:creationId xmlns:a16="http://schemas.microsoft.com/office/drawing/2014/main" id="{745A6D4B-8997-93DC-A379-28EB4FD9E1CE}"/>
              </a:ext>
            </a:extLst>
          </p:cNvPr>
          <p:cNvPicPr>
            <a:picLocks noChangeAspect="1"/>
          </p:cNvPicPr>
          <p:nvPr/>
        </p:nvPicPr>
        <p:blipFill>
          <a:blip r:embed="rId4"/>
          <a:stretch>
            <a:fillRect/>
          </a:stretch>
        </p:blipFill>
        <p:spPr>
          <a:xfrm>
            <a:off x="7336118" y="3175621"/>
            <a:ext cx="2297821" cy="2176274"/>
          </a:xfrm>
          <a:prstGeom prst="rect">
            <a:avLst/>
          </a:prstGeom>
        </p:spPr>
      </p:pic>
      <p:pic>
        <p:nvPicPr>
          <p:cNvPr id="7" name="Picture 6">
            <a:extLst>
              <a:ext uri="{FF2B5EF4-FFF2-40B4-BE49-F238E27FC236}">
                <a16:creationId xmlns:a16="http://schemas.microsoft.com/office/drawing/2014/main" id="{ACD5CAD6-2CC1-F39D-1ED2-1DCB757EC495}"/>
              </a:ext>
            </a:extLst>
          </p:cNvPr>
          <p:cNvPicPr>
            <a:picLocks noChangeAspect="1"/>
          </p:cNvPicPr>
          <p:nvPr/>
        </p:nvPicPr>
        <p:blipFill>
          <a:blip r:embed="rId5"/>
          <a:stretch>
            <a:fillRect/>
          </a:stretch>
        </p:blipFill>
        <p:spPr>
          <a:xfrm>
            <a:off x="9283833" y="3335621"/>
            <a:ext cx="2108067" cy="2179797"/>
          </a:xfrm>
          <a:prstGeom prst="rect">
            <a:avLst/>
          </a:prstGeom>
        </p:spPr>
      </p:pic>
    </p:spTree>
    <p:extLst>
      <p:ext uri="{BB962C8B-B14F-4D97-AF65-F5344CB8AC3E}">
        <p14:creationId xmlns:p14="http://schemas.microsoft.com/office/powerpoint/2010/main" val="3652369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84011-44DF-CD36-5C6A-4C97CD8C9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1B025-D7E5-E262-A1F0-E179D20F6C03}"/>
              </a:ext>
            </a:extLst>
          </p:cNvPr>
          <p:cNvSpPr>
            <a:spLocks noGrp="1"/>
          </p:cNvSpPr>
          <p:nvPr>
            <p:ph type="title"/>
          </p:nvPr>
        </p:nvSpPr>
        <p:spPr/>
        <p:txBody>
          <a:bodyPr>
            <a:normAutofit/>
          </a:bodyPr>
          <a:lstStyle/>
          <a:p>
            <a:r>
              <a:rPr lang="en-US" dirty="0"/>
              <a:t>Methods - Analysis </a:t>
            </a:r>
          </a:p>
        </p:txBody>
      </p:sp>
      <p:sp>
        <p:nvSpPr>
          <p:cNvPr id="3" name="Content Placeholder 2">
            <a:extLst>
              <a:ext uri="{FF2B5EF4-FFF2-40B4-BE49-F238E27FC236}">
                <a16:creationId xmlns:a16="http://schemas.microsoft.com/office/drawing/2014/main" id="{5670F175-929F-1408-507C-C66D8DCA10A1}"/>
              </a:ext>
            </a:extLst>
          </p:cNvPr>
          <p:cNvSpPr>
            <a:spLocks noGrp="1"/>
          </p:cNvSpPr>
          <p:nvPr>
            <p:ph idx="1"/>
          </p:nvPr>
        </p:nvSpPr>
        <p:spPr>
          <a:xfrm>
            <a:off x="700635" y="2045011"/>
            <a:ext cx="10286913" cy="3739896"/>
          </a:xfrm>
        </p:spPr>
        <p:txBody>
          <a:bodyPr>
            <a:normAutofit fontScale="92500" lnSpcReduction="20000"/>
          </a:bodyPr>
          <a:lstStyle/>
          <a:p>
            <a:pPr lvl="0"/>
            <a:r>
              <a:rPr lang="en-US" dirty="0"/>
              <a:t>Windows: BCI and isometric 50–250 ms after go cue; reaching the 200 ms before movement onset. Rates were smoothed with a 25 ms Gaussian and z-scored, and electrodes with mean rate &lt;3 Hz were dropped</a:t>
            </a:r>
          </a:p>
          <a:p>
            <a:pPr lvl="0"/>
            <a:r>
              <a:rPr lang="en-US" dirty="0"/>
              <a:t>PCA to the top 10 PCs (90 ± 4% of variance), and </a:t>
            </a:r>
            <a:r>
              <a:rPr lang="en-US" dirty="0" err="1"/>
              <a:t>dPCA</a:t>
            </a:r>
            <a:r>
              <a:rPr lang="en-US" dirty="0"/>
              <a:t> (time/posture/goal marginalizations) for visualization</a:t>
            </a:r>
          </a:p>
          <a:p>
            <a:pPr lvl="0"/>
            <a:r>
              <a:rPr lang="en-US" dirty="0"/>
              <a:t>Cross-projection alignment test: 2D posture and goal subspaces identified on one fold and variance captured measured on the held-out fold (10,000 splits), compared against random 2D subspaces</a:t>
            </a:r>
          </a:p>
          <a:p>
            <a:pPr lvl="0"/>
            <a:r>
              <a:rPr lang="en-US" dirty="0"/>
              <a:t>Posture consistency across tasks: LDA plus max-likelihood classification (within task, train on all, train on one and test on the others), 5-fold</a:t>
            </a:r>
          </a:p>
          <a:p>
            <a:pPr lvl="0"/>
            <a:r>
              <a:rPr lang="en-US" dirty="0"/>
              <a:t>Trajectory similarity: translate one trajectory onto another, normalize to the within-condition floor, and use adjacent targets (45° apart) as the reference</a:t>
            </a:r>
          </a:p>
        </p:txBody>
      </p:sp>
    </p:spTree>
    <p:extLst>
      <p:ext uri="{BB962C8B-B14F-4D97-AF65-F5344CB8AC3E}">
        <p14:creationId xmlns:p14="http://schemas.microsoft.com/office/powerpoint/2010/main" val="716412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032DD-10AA-D64E-7728-767BF33B450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40617D5-EC86-8657-BE6F-2708D782D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EB2366-ECEE-6B05-2D18-BD9E0E75DBA6}"/>
              </a:ext>
            </a:extLst>
          </p:cNvPr>
          <p:cNvSpPr>
            <a:spLocks noGrp="1"/>
          </p:cNvSpPr>
          <p:nvPr>
            <p:ph type="title"/>
          </p:nvPr>
        </p:nvSpPr>
        <p:spPr>
          <a:xfrm>
            <a:off x="704088" y="914400"/>
            <a:ext cx="4411922" cy="1473200"/>
          </a:xfrm>
        </p:spPr>
        <p:txBody>
          <a:bodyPr>
            <a:normAutofit fontScale="90000"/>
          </a:bodyPr>
          <a:lstStyle/>
          <a:p>
            <a:r>
              <a:rPr lang="en-US" sz="3600" dirty="0"/>
              <a:t>Results – Posture and goal occupy separate Dimensions</a:t>
            </a:r>
          </a:p>
        </p:txBody>
      </p:sp>
      <p:cxnSp>
        <p:nvCxnSpPr>
          <p:cNvPr id="11" name="Straight Connector 10">
            <a:extLst>
              <a:ext uri="{FF2B5EF4-FFF2-40B4-BE49-F238E27FC236}">
                <a16:creationId xmlns:a16="http://schemas.microsoft.com/office/drawing/2014/main" id="{164F7EB1-0F03-13DC-8AAB-7C9FE822CF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6CD86FD-532E-F6CE-81AB-CAE465C7A56A}"/>
              </a:ext>
            </a:extLst>
          </p:cNvPr>
          <p:cNvSpPr>
            <a:spLocks noGrp="1"/>
          </p:cNvSpPr>
          <p:nvPr>
            <p:ph idx="1"/>
          </p:nvPr>
        </p:nvSpPr>
        <p:spPr>
          <a:xfrm>
            <a:off x="704088" y="2530837"/>
            <a:ext cx="3705866" cy="3767328"/>
          </a:xfrm>
        </p:spPr>
        <p:txBody>
          <a:bodyPr>
            <a:normAutofit fontScale="92500" lnSpcReduction="10000"/>
          </a:bodyPr>
          <a:lstStyle/>
          <a:p>
            <a:pPr lvl="0"/>
            <a:r>
              <a:rPr lang="en-US" sz="1600" dirty="0"/>
              <a:t>Method: </a:t>
            </a:r>
            <a:r>
              <a:rPr lang="en-US" sz="1600" dirty="0" err="1"/>
              <a:t>dPCA</a:t>
            </a:r>
            <a:r>
              <a:rPr lang="en-US" sz="1600" dirty="0"/>
              <a:t> on 50–250 ms activity</a:t>
            </a:r>
          </a:p>
          <a:p>
            <a:pPr lvl="0"/>
            <a:r>
              <a:rPr lang="en-US" sz="1600" dirty="0"/>
              <a:t>Single units: mostly mixed tuning to posture and goal (E 89%, N 88%, R 76%)</a:t>
            </a:r>
          </a:p>
          <a:p>
            <a:pPr lvl="0"/>
            <a:r>
              <a:rPr lang="en-US" sz="1600" dirty="0"/>
              <a:t>PCA: no discernible organization (PC1–3: 25%, 19%, 16%)</a:t>
            </a:r>
          </a:p>
          <a:p>
            <a:pPr lvl="0"/>
            <a:r>
              <a:rPr lang="en-US" sz="1600" dirty="0" err="1"/>
              <a:t>dPCA</a:t>
            </a:r>
            <a:r>
              <a:rPr lang="en-US" sz="1600" dirty="0"/>
              <a:t>: goal dimensions fan trajectories out by target. Posture offsets whole trajectories with shape conserved, ordered by arm angle </a:t>
            </a:r>
          </a:p>
          <a:p>
            <a:pPr lvl="0"/>
            <a:r>
              <a:rPr lang="en-US" sz="1600" dirty="0"/>
              <a:t>Replicated for shoulder rotation (E), elbow rotation (E Array 2) and shoulder abduction (N, R)</a:t>
            </a:r>
          </a:p>
        </p:txBody>
      </p:sp>
      <p:pic>
        <p:nvPicPr>
          <p:cNvPr id="4" name="Picture 3">
            <a:extLst>
              <a:ext uri="{FF2B5EF4-FFF2-40B4-BE49-F238E27FC236}">
                <a16:creationId xmlns:a16="http://schemas.microsoft.com/office/drawing/2014/main" id="{577133B3-AED3-7431-D10E-47F087575329}"/>
              </a:ext>
            </a:extLst>
          </p:cNvPr>
          <p:cNvPicPr>
            <a:picLocks noChangeAspect="1"/>
          </p:cNvPicPr>
          <p:nvPr/>
        </p:nvPicPr>
        <p:blipFill>
          <a:blip r:embed="rId3"/>
          <a:stretch>
            <a:fillRect/>
          </a:stretch>
        </p:blipFill>
        <p:spPr>
          <a:xfrm>
            <a:off x="5083831" y="416597"/>
            <a:ext cx="7097443" cy="6024806"/>
          </a:xfrm>
          <a:prstGeom prst="rect">
            <a:avLst/>
          </a:prstGeom>
        </p:spPr>
      </p:pic>
    </p:spTree>
    <p:extLst>
      <p:ext uri="{BB962C8B-B14F-4D97-AF65-F5344CB8AC3E}">
        <p14:creationId xmlns:p14="http://schemas.microsoft.com/office/powerpoint/2010/main" val="3395731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6A425-E013-B852-4C6A-F3E36ED8442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E9C6D5-4E50-FEC3-2426-768C82B5C1E5}"/>
              </a:ext>
            </a:extLst>
          </p:cNvPr>
          <p:cNvSpPr>
            <a:spLocks noGrp="1"/>
          </p:cNvSpPr>
          <p:nvPr>
            <p:ph type="title"/>
          </p:nvPr>
        </p:nvSpPr>
        <p:spPr>
          <a:xfrm>
            <a:off x="704089" y="914400"/>
            <a:ext cx="3453844" cy="1463040"/>
          </a:xfrm>
        </p:spPr>
        <p:txBody>
          <a:bodyPr anchor="t">
            <a:noAutofit/>
          </a:bodyPr>
          <a:lstStyle/>
          <a:p>
            <a:pPr>
              <a:lnSpc>
                <a:spcPct val="90000"/>
              </a:lnSpc>
            </a:pPr>
            <a:r>
              <a:rPr lang="en-US" sz="2400" dirty="0"/>
              <a:t>Results – Posture and goal subspaces are nearly orthogonal</a:t>
            </a:r>
            <a:endParaRPr lang="en-US" sz="2000" dirty="0"/>
          </a:p>
        </p:txBody>
      </p:sp>
      <p:cxnSp>
        <p:nvCxnSpPr>
          <p:cNvPr id="11" name="Straight Connector 10">
            <a:extLst>
              <a:ext uri="{FF2B5EF4-FFF2-40B4-BE49-F238E27FC236}">
                <a16:creationId xmlns:a16="http://schemas.microsoft.com/office/drawing/2014/main" id="{A7C10D4C-8DED-200E-3237-3345F3F2A1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A9D000C-B4E5-8EC6-3374-E48151885355}"/>
              </a:ext>
            </a:extLst>
          </p:cNvPr>
          <p:cNvSpPr>
            <a:spLocks noGrp="1"/>
          </p:cNvSpPr>
          <p:nvPr>
            <p:ph idx="1"/>
          </p:nvPr>
        </p:nvSpPr>
        <p:spPr>
          <a:xfrm>
            <a:off x="4606636" y="914400"/>
            <a:ext cx="6869979" cy="1463040"/>
          </a:xfrm>
        </p:spPr>
        <p:txBody>
          <a:bodyPr anchor="t">
            <a:normAutofit fontScale="92500" lnSpcReduction="20000"/>
          </a:bodyPr>
          <a:lstStyle/>
          <a:p>
            <a:r>
              <a:rPr lang="en-US" sz="1100" dirty="0"/>
              <a:t>Method: cross-projection alignment test</a:t>
            </a:r>
          </a:p>
          <a:p>
            <a:r>
              <a:rPr lang="en-US" sz="1100" dirty="0"/>
              <a:t>Example (E): posture subspace captures 83% of posture variance, goal subspace only 10%. Goal subspace captures 79% of goal variance, posture subspace 10%</a:t>
            </a:r>
          </a:p>
          <a:p>
            <a:r>
              <a:rPr lang="en-US" sz="1100" dirty="0"/>
              <a:t>Consistent in every session and animal, with goal-subspace capture of posture variance at the low end of the random-subspace distribution</a:t>
            </a:r>
          </a:p>
          <a:p>
            <a:r>
              <a:rPr lang="en-US" sz="1100" dirty="0"/>
              <a:t>Two-joint session (E): combined posture subspace 92% (goal subspace 20%). Shoulder and elbow subspaces were also nearly orthogonal to each other</a:t>
            </a:r>
          </a:p>
        </p:txBody>
      </p:sp>
      <p:cxnSp>
        <p:nvCxnSpPr>
          <p:cNvPr id="13" name="Straight Connector 12">
            <a:extLst>
              <a:ext uri="{FF2B5EF4-FFF2-40B4-BE49-F238E27FC236}">
                <a16:creationId xmlns:a16="http://schemas.microsoft.com/office/drawing/2014/main" id="{E8F7F80F-9EDD-0EEA-B6D7-E116EBA4FA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2497143"/>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2760B3E-5E76-9ED7-7E8F-4D6BBB84FC0F}"/>
              </a:ext>
            </a:extLst>
          </p:cNvPr>
          <p:cNvPicPr>
            <a:picLocks noChangeAspect="1"/>
          </p:cNvPicPr>
          <p:nvPr/>
        </p:nvPicPr>
        <p:blipFill>
          <a:blip r:embed="rId3"/>
          <a:stretch>
            <a:fillRect/>
          </a:stretch>
        </p:blipFill>
        <p:spPr>
          <a:xfrm>
            <a:off x="809065" y="2567939"/>
            <a:ext cx="6471355" cy="3895379"/>
          </a:xfrm>
          <a:prstGeom prst="rect">
            <a:avLst/>
          </a:prstGeom>
        </p:spPr>
      </p:pic>
      <p:pic>
        <p:nvPicPr>
          <p:cNvPr id="6" name="Picture 5">
            <a:extLst>
              <a:ext uri="{FF2B5EF4-FFF2-40B4-BE49-F238E27FC236}">
                <a16:creationId xmlns:a16="http://schemas.microsoft.com/office/drawing/2014/main" id="{D33248E1-87FA-8800-F6C1-C8BEE3A4FD84}"/>
              </a:ext>
            </a:extLst>
          </p:cNvPr>
          <p:cNvPicPr>
            <a:picLocks noChangeAspect="1"/>
          </p:cNvPicPr>
          <p:nvPr/>
        </p:nvPicPr>
        <p:blipFill>
          <a:blip r:embed="rId4"/>
          <a:stretch>
            <a:fillRect/>
          </a:stretch>
        </p:blipFill>
        <p:spPr>
          <a:xfrm>
            <a:off x="8089485" y="2834640"/>
            <a:ext cx="3139485" cy="3566160"/>
          </a:xfrm>
          <a:prstGeom prst="rect">
            <a:avLst/>
          </a:prstGeom>
        </p:spPr>
      </p:pic>
    </p:spTree>
    <p:extLst>
      <p:ext uri="{BB962C8B-B14F-4D97-AF65-F5344CB8AC3E}">
        <p14:creationId xmlns:p14="http://schemas.microsoft.com/office/powerpoint/2010/main" val="433362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5AB9D-6B8F-D458-21F0-199B77111CFC}"/>
            </a:ext>
          </a:extLst>
        </p:cNvPr>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0055FB-1AD9-DE2A-09E1-452107AC465F}"/>
              </a:ext>
            </a:extLst>
          </p:cNvPr>
          <p:cNvSpPr>
            <a:spLocks noGrp="1"/>
          </p:cNvSpPr>
          <p:nvPr>
            <p:ph type="title"/>
          </p:nvPr>
        </p:nvSpPr>
        <p:spPr>
          <a:xfrm>
            <a:off x="270135" y="4418130"/>
            <a:ext cx="4391790" cy="2110444"/>
          </a:xfrm>
        </p:spPr>
        <p:txBody>
          <a:bodyPr>
            <a:normAutofit fontScale="90000"/>
          </a:bodyPr>
          <a:lstStyle/>
          <a:p>
            <a:r>
              <a:rPr lang="en-US" dirty="0"/>
              <a:t>Results – The same organization holds in overt tasks</a:t>
            </a:r>
          </a:p>
        </p:txBody>
      </p:sp>
      <p:cxnSp>
        <p:nvCxnSpPr>
          <p:cNvPr id="1040" name="Straight Connector 1039">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76800" y="4114590"/>
            <a:ext cx="9818" cy="20195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E5382A7-7B6C-024B-378A-EB28323B5A6A}"/>
              </a:ext>
            </a:extLst>
          </p:cNvPr>
          <p:cNvSpPr>
            <a:spLocks noGrp="1"/>
          </p:cNvSpPr>
          <p:nvPr>
            <p:ph idx="1"/>
          </p:nvPr>
        </p:nvSpPr>
        <p:spPr>
          <a:xfrm>
            <a:off x="5359000" y="4417435"/>
            <a:ext cx="6135924" cy="2093976"/>
          </a:xfrm>
        </p:spPr>
        <p:txBody>
          <a:bodyPr>
            <a:normAutofit fontScale="62500" lnSpcReduction="20000"/>
          </a:bodyPr>
          <a:lstStyle/>
          <a:p>
            <a:r>
              <a:rPr lang="en-US" dirty="0"/>
              <a:t>Method: same </a:t>
            </a:r>
            <a:r>
              <a:rPr lang="en-US" dirty="0" err="1"/>
              <a:t>dPCA</a:t>
            </a:r>
            <a:r>
              <a:rPr lang="en-US" dirty="0"/>
              <a:t> and alignment analysis, in isometric force (E) and reaching (E, N, R)</a:t>
            </a:r>
          </a:p>
          <a:p>
            <a:r>
              <a:rPr lang="en-US" dirty="0"/>
              <a:t>Isometric: trajectories have similar shapes across the five postures and are offset along the posture dimension (4%), and the subspaces are nearly orthogonal (p &lt; 10⁻²⁵)</a:t>
            </a:r>
          </a:p>
          <a:p>
            <a:r>
              <a:rPr lang="en-US" dirty="0"/>
              <a:t>Reaching: same result (example R: posture 4%, goal 21% and 17%)</a:t>
            </a:r>
          </a:p>
          <a:p>
            <a:r>
              <a:rPr lang="en-US" dirty="0"/>
              <a:t>Controls: shifting the visual workspace did not change goal-subspace activity, so it follows reach direction. Once the arm moves, the posture dimension does not closely track hand position (Fig S7)</a:t>
            </a:r>
          </a:p>
        </p:txBody>
      </p:sp>
      <p:pic>
        <p:nvPicPr>
          <p:cNvPr id="4" name="Picture 3">
            <a:extLst>
              <a:ext uri="{FF2B5EF4-FFF2-40B4-BE49-F238E27FC236}">
                <a16:creationId xmlns:a16="http://schemas.microsoft.com/office/drawing/2014/main" id="{0A5CDAE7-41D5-FC21-A4CA-9E20FA24465F}"/>
              </a:ext>
            </a:extLst>
          </p:cNvPr>
          <p:cNvPicPr>
            <a:picLocks noChangeAspect="1"/>
          </p:cNvPicPr>
          <p:nvPr/>
        </p:nvPicPr>
        <p:blipFill>
          <a:blip r:embed="rId3"/>
          <a:stretch>
            <a:fillRect/>
          </a:stretch>
        </p:blipFill>
        <p:spPr>
          <a:xfrm>
            <a:off x="2585296" y="0"/>
            <a:ext cx="7021408" cy="4427152"/>
          </a:xfrm>
          <a:prstGeom prst="rect">
            <a:avLst/>
          </a:prstGeom>
        </p:spPr>
      </p:pic>
    </p:spTree>
    <p:extLst>
      <p:ext uri="{BB962C8B-B14F-4D97-AF65-F5344CB8AC3E}">
        <p14:creationId xmlns:p14="http://schemas.microsoft.com/office/powerpoint/2010/main" val="1221670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3D810-D377-DC2C-08E6-CB49274DFD4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C5A5D8E-0B11-5C62-8582-35C58FA327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6056BD-5E68-A33A-06FF-1982A7C12C27}"/>
              </a:ext>
            </a:extLst>
          </p:cNvPr>
          <p:cNvSpPr>
            <a:spLocks noGrp="1"/>
          </p:cNvSpPr>
          <p:nvPr>
            <p:ph type="title"/>
          </p:nvPr>
        </p:nvSpPr>
        <p:spPr>
          <a:xfrm>
            <a:off x="704088" y="914400"/>
            <a:ext cx="4411922" cy="1473200"/>
          </a:xfrm>
        </p:spPr>
        <p:txBody>
          <a:bodyPr>
            <a:normAutofit fontScale="90000"/>
          </a:bodyPr>
          <a:lstStyle/>
          <a:p>
            <a:r>
              <a:rPr lang="en-US" sz="3600" dirty="0"/>
              <a:t>Results – The posture subspace is shared across tasks</a:t>
            </a:r>
          </a:p>
        </p:txBody>
      </p:sp>
      <p:cxnSp>
        <p:nvCxnSpPr>
          <p:cNvPr id="11" name="Straight Connector 10">
            <a:extLst>
              <a:ext uri="{FF2B5EF4-FFF2-40B4-BE49-F238E27FC236}">
                <a16:creationId xmlns:a16="http://schemas.microsoft.com/office/drawing/2014/main" id="{88D8F64F-F1AE-3EC1-DF45-F64DA04E7C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0110D02-FCB8-1602-BB81-E4BBD5F072E3}"/>
              </a:ext>
            </a:extLst>
          </p:cNvPr>
          <p:cNvSpPr>
            <a:spLocks noGrp="1"/>
          </p:cNvSpPr>
          <p:nvPr>
            <p:ph idx="1"/>
          </p:nvPr>
        </p:nvSpPr>
        <p:spPr>
          <a:xfrm>
            <a:off x="704088" y="2530837"/>
            <a:ext cx="3705866" cy="3767328"/>
          </a:xfrm>
        </p:spPr>
        <p:txBody>
          <a:bodyPr>
            <a:normAutofit fontScale="92500" lnSpcReduction="10000"/>
          </a:bodyPr>
          <a:lstStyle/>
          <a:p>
            <a:pPr lvl="0"/>
            <a:r>
              <a:rPr lang="en-US" sz="1600" dirty="0"/>
              <a:t>Method: multi-task paradigm (E), with one LDA posture subspace and maximum-likelihood classification of posture</a:t>
            </a:r>
          </a:p>
          <a:p>
            <a:pPr lvl="0"/>
            <a:r>
              <a:rPr lang="en-US" sz="1600" dirty="0"/>
              <a:t>LDA projections look similar across BCI, isometric and reaching</a:t>
            </a:r>
          </a:p>
          <a:p>
            <a:pPr lvl="0"/>
            <a:r>
              <a:rPr lang="en-US" sz="1600" dirty="0"/>
              <a:t>Classification accuracy: within task 96.7%, one classifier on all tasks 95.4%, train on one task and test on the others 77.8% (chance 33.3%)</a:t>
            </a:r>
          </a:p>
          <a:p>
            <a:pPr lvl="0"/>
            <a:r>
              <a:rPr lang="en-US" sz="1600" dirty="0"/>
              <a:t>Overall activity differs strongly between tasks (Task Dim 1 = 12%), so a shared posture signal is not simply shared overall activity</a:t>
            </a:r>
          </a:p>
        </p:txBody>
      </p:sp>
      <p:pic>
        <p:nvPicPr>
          <p:cNvPr id="5" name="Picture 4">
            <a:extLst>
              <a:ext uri="{FF2B5EF4-FFF2-40B4-BE49-F238E27FC236}">
                <a16:creationId xmlns:a16="http://schemas.microsoft.com/office/drawing/2014/main" id="{C76795F9-8E73-FB7C-5213-3180F26E4A24}"/>
              </a:ext>
            </a:extLst>
          </p:cNvPr>
          <p:cNvPicPr>
            <a:picLocks noChangeAspect="1"/>
          </p:cNvPicPr>
          <p:nvPr/>
        </p:nvPicPr>
        <p:blipFill>
          <a:blip r:embed="rId3"/>
          <a:stretch>
            <a:fillRect/>
          </a:stretch>
        </p:blipFill>
        <p:spPr>
          <a:xfrm>
            <a:off x="5082971" y="95250"/>
            <a:ext cx="7098016" cy="6667499"/>
          </a:xfrm>
          <a:prstGeom prst="rect">
            <a:avLst/>
          </a:prstGeom>
        </p:spPr>
      </p:pic>
    </p:spTree>
    <p:extLst>
      <p:ext uri="{BB962C8B-B14F-4D97-AF65-F5344CB8AC3E}">
        <p14:creationId xmlns:p14="http://schemas.microsoft.com/office/powerpoint/2010/main" val="393579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7478-EA72-13DB-B759-AD8050D695B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DA02C1-3B87-C714-A0DC-2FB4B4F2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6CE0EA-3FAF-A03C-8970-4A9DEB349117}"/>
              </a:ext>
            </a:extLst>
          </p:cNvPr>
          <p:cNvSpPr>
            <a:spLocks noGrp="1"/>
          </p:cNvSpPr>
          <p:nvPr>
            <p:ph type="title"/>
          </p:nvPr>
        </p:nvSpPr>
        <p:spPr>
          <a:xfrm>
            <a:off x="704088" y="914400"/>
            <a:ext cx="4411922" cy="1473200"/>
          </a:xfrm>
        </p:spPr>
        <p:txBody>
          <a:bodyPr>
            <a:normAutofit fontScale="90000"/>
          </a:bodyPr>
          <a:lstStyle/>
          <a:p>
            <a:r>
              <a:rPr lang="en-US" sz="3600" dirty="0"/>
              <a:t>Results – Trajectory shapes are similar across postures</a:t>
            </a:r>
          </a:p>
        </p:txBody>
      </p:sp>
      <p:cxnSp>
        <p:nvCxnSpPr>
          <p:cNvPr id="11" name="Straight Connector 10">
            <a:extLst>
              <a:ext uri="{FF2B5EF4-FFF2-40B4-BE49-F238E27FC236}">
                <a16:creationId xmlns:a16="http://schemas.microsoft.com/office/drawing/2014/main" id="{AA3A1D8D-F2C0-B32C-7054-85952167C5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CECC62F-036D-3E1A-AC06-B4E81D67082B}"/>
              </a:ext>
            </a:extLst>
          </p:cNvPr>
          <p:cNvSpPr>
            <a:spLocks noGrp="1"/>
          </p:cNvSpPr>
          <p:nvPr>
            <p:ph idx="1"/>
          </p:nvPr>
        </p:nvSpPr>
        <p:spPr>
          <a:xfrm>
            <a:off x="704088" y="2530837"/>
            <a:ext cx="3705866" cy="3767328"/>
          </a:xfrm>
        </p:spPr>
        <p:txBody>
          <a:bodyPr>
            <a:normAutofit fontScale="92500" lnSpcReduction="10000"/>
          </a:bodyPr>
          <a:lstStyle/>
          <a:p>
            <a:pPr lvl="0"/>
            <a:r>
              <a:rPr lang="en-US" sz="1600" dirty="0"/>
              <a:t>Method: translation-only alignment of trajectories from different postures (same target), normalized so 1 = the floor set by finite trials, with adjacent targets (45° apart) as reference</a:t>
            </a:r>
          </a:p>
          <a:p>
            <a:pPr lvl="0"/>
            <a:r>
              <a:rPr lang="en-US" sz="1600" dirty="0"/>
              <a:t>Translation removed most of the difference: BCI 89% (E), 85% (N), 83% (R); reaching 73% (E), 58% (N), 63% (R)</a:t>
            </a:r>
          </a:p>
          <a:p>
            <a:pPr lvl="0"/>
            <a:r>
              <a:rPr lang="en-US" sz="1600" dirty="0"/>
              <a:t>Across-posture differences after translation were smaller than across-adjacent-target differences: BCI E p&lt;10⁻⁹, N p&lt;10⁻⁶, R p&lt;0.01. Reaching E p=0.03, N p&lt;10⁻³, R p&lt;10⁻⁷</a:t>
            </a:r>
          </a:p>
        </p:txBody>
      </p:sp>
      <p:pic>
        <p:nvPicPr>
          <p:cNvPr id="4" name="Picture 3">
            <a:extLst>
              <a:ext uri="{FF2B5EF4-FFF2-40B4-BE49-F238E27FC236}">
                <a16:creationId xmlns:a16="http://schemas.microsoft.com/office/drawing/2014/main" id="{FE6F7C77-17EC-5DFB-7B37-2DE01B0773F2}"/>
              </a:ext>
            </a:extLst>
          </p:cNvPr>
          <p:cNvPicPr>
            <a:picLocks noChangeAspect="1"/>
          </p:cNvPicPr>
          <p:nvPr/>
        </p:nvPicPr>
        <p:blipFill>
          <a:blip r:embed="rId3"/>
          <a:stretch>
            <a:fillRect/>
          </a:stretch>
        </p:blipFill>
        <p:spPr>
          <a:xfrm>
            <a:off x="5114042" y="0"/>
            <a:ext cx="7118797" cy="6858000"/>
          </a:xfrm>
          <a:prstGeom prst="rect">
            <a:avLst/>
          </a:prstGeom>
        </p:spPr>
      </p:pic>
    </p:spTree>
    <p:extLst>
      <p:ext uri="{BB962C8B-B14F-4D97-AF65-F5344CB8AC3E}">
        <p14:creationId xmlns:p14="http://schemas.microsoft.com/office/powerpoint/2010/main" val="3398538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65CF4-69CE-B1D9-7A0F-5F3FD879F9F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88EC257-541E-250C-C773-3BD6C355F131}"/>
              </a:ext>
            </a:extLst>
          </p:cNvPr>
          <p:cNvSpPr/>
          <p:nvPr/>
        </p:nvSpPr>
        <p:spPr>
          <a:xfrm>
            <a:off x="700635" y="578734"/>
            <a:ext cx="10790729" cy="216982"/>
          </a:xfrm>
          <a:prstGeom prst="rect">
            <a:avLst/>
          </a:prstGeom>
          <a:solidFill>
            <a:schemeClr val="bg1"/>
          </a:solidFill>
          <a:ln w="127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38970D3-6799-9D46-6B57-2C7200358111}"/>
              </a:ext>
            </a:extLst>
          </p:cNvPr>
          <p:cNvSpPr/>
          <p:nvPr/>
        </p:nvSpPr>
        <p:spPr>
          <a:xfrm>
            <a:off x="700634" y="6062284"/>
            <a:ext cx="10790729" cy="216982"/>
          </a:xfrm>
          <a:prstGeom prst="rect">
            <a:avLst/>
          </a:prstGeom>
          <a:solidFill>
            <a:schemeClr val="bg1"/>
          </a:solidFill>
          <a:ln w="127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97386E-95BB-2049-3F18-14002B90FFD2}"/>
              </a:ext>
            </a:extLst>
          </p:cNvPr>
          <p:cNvSpPr>
            <a:spLocks noGrp="1"/>
          </p:cNvSpPr>
          <p:nvPr>
            <p:ph type="title"/>
          </p:nvPr>
        </p:nvSpPr>
        <p:spPr>
          <a:xfrm>
            <a:off x="0" y="33429"/>
            <a:ext cx="5329775" cy="1307592"/>
          </a:xfrm>
        </p:spPr>
        <p:txBody>
          <a:bodyPr>
            <a:normAutofit fontScale="90000"/>
          </a:bodyPr>
          <a:lstStyle/>
          <a:p>
            <a:r>
              <a:rPr lang="en-US" dirty="0"/>
              <a:t>DPCA is not necessary and drift doesn’t account</a:t>
            </a:r>
          </a:p>
        </p:txBody>
      </p:sp>
      <p:pic>
        <p:nvPicPr>
          <p:cNvPr id="4" name="Picture 3">
            <a:extLst>
              <a:ext uri="{FF2B5EF4-FFF2-40B4-BE49-F238E27FC236}">
                <a16:creationId xmlns:a16="http://schemas.microsoft.com/office/drawing/2014/main" id="{18598846-3F56-A18D-94AC-5AF2F3DDC287}"/>
              </a:ext>
            </a:extLst>
          </p:cNvPr>
          <p:cNvPicPr>
            <a:picLocks noChangeAspect="1"/>
          </p:cNvPicPr>
          <p:nvPr/>
        </p:nvPicPr>
        <p:blipFill>
          <a:blip r:embed="rId3"/>
          <a:stretch>
            <a:fillRect/>
          </a:stretch>
        </p:blipFill>
        <p:spPr>
          <a:xfrm>
            <a:off x="5063592" y="0"/>
            <a:ext cx="6994932" cy="6858000"/>
          </a:xfrm>
          <a:prstGeom prst="rect">
            <a:avLst/>
          </a:prstGeom>
        </p:spPr>
      </p:pic>
      <p:pic>
        <p:nvPicPr>
          <p:cNvPr id="6" name="Picture 5">
            <a:extLst>
              <a:ext uri="{FF2B5EF4-FFF2-40B4-BE49-F238E27FC236}">
                <a16:creationId xmlns:a16="http://schemas.microsoft.com/office/drawing/2014/main" id="{F8B35048-BE12-054A-C80D-76BB6A3D0DE8}"/>
              </a:ext>
            </a:extLst>
          </p:cNvPr>
          <p:cNvPicPr>
            <a:picLocks noChangeAspect="1"/>
          </p:cNvPicPr>
          <p:nvPr/>
        </p:nvPicPr>
        <p:blipFill>
          <a:blip r:embed="rId4"/>
          <a:stretch>
            <a:fillRect/>
          </a:stretch>
        </p:blipFill>
        <p:spPr>
          <a:xfrm>
            <a:off x="133473" y="1664126"/>
            <a:ext cx="4473251" cy="5183708"/>
          </a:xfrm>
          <a:prstGeom prst="rect">
            <a:avLst/>
          </a:prstGeom>
        </p:spPr>
      </p:pic>
    </p:spTree>
    <p:extLst>
      <p:ext uri="{BB962C8B-B14F-4D97-AF65-F5344CB8AC3E}">
        <p14:creationId xmlns:p14="http://schemas.microsoft.com/office/powerpoint/2010/main" val="482149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CD27B-8140-18C0-819D-B205E2CF6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E5671-9B05-00CC-FD7F-B1CD98F061E2}"/>
              </a:ext>
            </a:extLst>
          </p:cNvPr>
          <p:cNvSpPr>
            <a:spLocks noGrp="1"/>
          </p:cNvSpPr>
          <p:nvPr>
            <p:ph type="title"/>
          </p:nvPr>
        </p:nvSpPr>
        <p:spPr/>
        <p:txBody>
          <a:bodyPr/>
          <a:lstStyle/>
          <a:p>
            <a:r>
              <a:rPr lang="en-US" dirty="0"/>
              <a:t>Discussion </a:t>
            </a:r>
          </a:p>
        </p:txBody>
      </p:sp>
      <p:sp>
        <p:nvSpPr>
          <p:cNvPr id="3" name="Content Placeholder 2">
            <a:extLst>
              <a:ext uri="{FF2B5EF4-FFF2-40B4-BE49-F238E27FC236}">
                <a16:creationId xmlns:a16="http://schemas.microsoft.com/office/drawing/2014/main" id="{476E7B50-E7CE-CDE9-D8AF-4037296187E6}"/>
              </a:ext>
            </a:extLst>
          </p:cNvPr>
          <p:cNvSpPr>
            <a:spLocks noGrp="1"/>
          </p:cNvSpPr>
          <p:nvPr>
            <p:ph idx="1"/>
          </p:nvPr>
        </p:nvSpPr>
        <p:spPr/>
        <p:txBody>
          <a:bodyPr>
            <a:normAutofit fontScale="85000" lnSpcReduction="20000"/>
          </a:bodyPr>
          <a:lstStyle/>
          <a:p>
            <a:pPr lvl="0"/>
            <a:r>
              <a:rPr lang="en-US" dirty="0"/>
              <a:t>M1 organizes posture and goal into separate, nearly orthogonal subspaces that are preserved across tasks, with trajectory shape conserved across postures</a:t>
            </a:r>
          </a:p>
          <a:p>
            <a:pPr lvl="0"/>
            <a:r>
              <a:rPr lang="en-US" dirty="0"/>
              <a:t>This is simpler than single-unit complexity suggests; complicated single-unit effects likely reside in low-variance dimensions</a:t>
            </a:r>
          </a:p>
          <a:p>
            <a:pPr lvl="0"/>
            <a:r>
              <a:rPr lang="en-US" dirty="0"/>
              <a:t>Proposed benefits of separating posture from goal: </a:t>
            </a:r>
          </a:p>
          <a:p>
            <a:pPr lvl="1"/>
            <a:r>
              <a:rPr lang="en-US" dirty="0"/>
              <a:t>Goal signals can be reused across postures, allowing compositional coding and generalization to new postures</a:t>
            </a:r>
          </a:p>
          <a:p>
            <a:pPr lvl="1"/>
            <a:r>
              <a:rPr lang="en-US" dirty="0"/>
              <a:t>Different dynamical flow fields can be learned per posture. Posture could act as an input that "selects" the appropriate dynamics, and the small shape changes seen may reflect slight flow-field differences</a:t>
            </a:r>
          </a:p>
          <a:p>
            <a:pPr lvl="1"/>
            <a:r>
              <a:rPr lang="en-US" dirty="0"/>
              <a:t>Posture information can enter M1 without immediately causing limb movement, because it avoids the "output-potent space". M1 can process it before it affects movement, so it is used in a goal-dependent way and not mapped one-to-one to muscles as in a simple reflex</a:t>
            </a:r>
          </a:p>
          <a:p>
            <a:pPr lvl="0"/>
            <a:r>
              <a:rPr lang="en-US" dirty="0"/>
              <a:t>Joins a growing list of non-motor-output signals in M1: arousal, reward, uncertainty, somatosensory feedback, memory</a:t>
            </a:r>
          </a:p>
        </p:txBody>
      </p:sp>
    </p:spTree>
    <p:extLst>
      <p:ext uri="{BB962C8B-B14F-4D97-AF65-F5344CB8AC3E}">
        <p14:creationId xmlns:p14="http://schemas.microsoft.com/office/powerpoint/2010/main" val="1044157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BB162-76A4-FEE8-636F-296201D6A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6CB42-E1BB-BE36-010D-186501447442}"/>
              </a:ext>
            </a:extLst>
          </p:cNvPr>
          <p:cNvSpPr>
            <a:spLocks noGrp="1"/>
          </p:cNvSpPr>
          <p:nvPr>
            <p:ph type="title"/>
          </p:nvPr>
        </p:nvSpPr>
        <p:spPr/>
        <p:txBody>
          <a:bodyPr>
            <a:normAutofit fontScale="90000"/>
          </a:bodyPr>
          <a:lstStyle/>
          <a:p>
            <a:r>
              <a:rPr lang="en-US" dirty="0"/>
              <a:t>Origin of the signal and clinical BCI implications</a:t>
            </a:r>
          </a:p>
        </p:txBody>
      </p:sp>
      <p:sp>
        <p:nvSpPr>
          <p:cNvPr id="3" name="Content Placeholder 2">
            <a:extLst>
              <a:ext uri="{FF2B5EF4-FFF2-40B4-BE49-F238E27FC236}">
                <a16:creationId xmlns:a16="http://schemas.microsoft.com/office/drawing/2014/main" id="{7838063D-A943-F7D9-BC8F-99F1BFE360E1}"/>
              </a:ext>
            </a:extLst>
          </p:cNvPr>
          <p:cNvSpPr>
            <a:spLocks noGrp="1"/>
          </p:cNvSpPr>
          <p:nvPr>
            <p:ph idx="1"/>
          </p:nvPr>
        </p:nvSpPr>
        <p:spPr/>
        <p:txBody>
          <a:bodyPr>
            <a:normAutofit lnSpcReduction="10000"/>
          </a:bodyPr>
          <a:lstStyle/>
          <a:p>
            <a:pPr lvl="0"/>
            <a:r>
              <a:rPr lang="en-US" dirty="0"/>
              <a:t>Likely origin: proprioceptive input (arm was passive during analysis, so not an efferent posture-maintenance signal)</a:t>
            </a:r>
          </a:p>
          <a:p>
            <a:pPr lvl="0"/>
            <a:r>
              <a:rPr lang="en-US" dirty="0"/>
              <a:t>Orthogonality may reflect separate somatosensory/premotor pathways, or be learned to gain the benefits above</a:t>
            </a:r>
          </a:p>
          <a:p>
            <a:pPr lvl="0"/>
            <a:r>
              <a:rPr lang="en-US" dirty="0"/>
              <a:t>Similar goal geometry in BCI and reaching may reflect motor planning transferring from reach training to BCI use</a:t>
            </a:r>
          </a:p>
          <a:p>
            <a:pPr lvl="0"/>
            <a:r>
              <a:rPr lang="en-US" dirty="0"/>
              <a:t>Clinical BCI implications: </a:t>
            </a:r>
          </a:p>
          <a:p>
            <a:pPr lvl="1"/>
            <a:r>
              <a:rPr lang="en-US" dirty="0"/>
              <a:t>Sampling enough postures could yield a single decoder robust to posture change</a:t>
            </a:r>
          </a:p>
          <a:p>
            <a:pPr lvl="1"/>
            <a:r>
              <a:rPr lang="en-US" dirty="0"/>
              <a:t>Decoders/stimulation could be designed to avoid the goal subspace</a:t>
            </a:r>
          </a:p>
          <a:p>
            <a:pPr lvl="1"/>
            <a:r>
              <a:rPr lang="en-US" dirty="0"/>
              <a:t>Relevant for users with residual motor control or caregiver-adjusted posture</a:t>
            </a:r>
          </a:p>
        </p:txBody>
      </p:sp>
    </p:spTree>
    <p:extLst>
      <p:ext uri="{BB962C8B-B14F-4D97-AF65-F5344CB8AC3E}">
        <p14:creationId xmlns:p14="http://schemas.microsoft.com/office/powerpoint/2010/main" val="2872056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62C11-602E-D8CC-B332-7E0DB8C95E73}"/>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8D5CC77B-58A9-DA5D-6A1B-6CD83120E965}"/>
              </a:ext>
            </a:extLst>
          </p:cNvPr>
          <p:cNvSpPr>
            <a:spLocks noGrp="1"/>
          </p:cNvSpPr>
          <p:nvPr>
            <p:ph idx="1"/>
          </p:nvPr>
        </p:nvSpPr>
        <p:spPr/>
        <p:txBody>
          <a:bodyPr>
            <a:normAutofit fontScale="70000" lnSpcReduction="20000"/>
          </a:bodyPr>
          <a:lstStyle/>
          <a:p>
            <a:pPr lvl="0"/>
            <a:r>
              <a:rPr lang="en-US" dirty="0"/>
              <a:t>Three monkeys. Only Monkey E had posture varied systematically around a single joint. N and R had only 2–3 coarse postures</a:t>
            </a:r>
          </a:p>
          <a:p>
            <a:pPr lvl="0"/>
            <a:r>
              <a:rPr lang="en-US" dirty="0"/>
              <a:t>Only proximal arm/shoulder/elbow postures were tested (whether this generalizes to the wrist, hand or other body postures is unknown), and the analysis windows were early (pre-movement / early execution)</a:t>
            </a:r>
          </a:p>
          <a:p>
            <a:pPr lvl="0"/>
            <a:r>
              <a:rPr lang="en-US" dirty="0"/>
              <a:t>Multi-task paradigm had only one session in one animal</a:t>
            </a:r>
          </a:p>
          <a:p>
            <a:pPr lvl="0"/>
            <a:r>
              <a:rPr lang="en-US" dirty="0"/>
              <a:t>M1 and </a:t>
            </a:r>
            <a:r>
              <a:rPr lang="en-US" dirty="0" err="1"/>
              <a:t>PMd</a:t>
            </a:r>
            <a:r>
              <a:rPr lang="en-US" dirty="0"/>
              <a:t> recordings were pooled, and unit definition differed by lab (unsorted channels for E vs sorted units for N and R)</a:t>
            </a:r>
          </a:p>
          <a:p>
            <a:pPr lvl="0"/>
            <a:r>
              <a:rPr lang="en-US" dirty="0"/>
              <a:t>Correlational: no causal test of the posture signal's origin (proprioceptive is inferred), or of the mechanism producing orthogonality</a:t>
            </a:r>
          </a:p>
          <a:p>
            <a:pPr lvl="0"/>
            <a:r>
              <a:rPr lang="en-US" dirty="0"/>
              <a:t>Reaching posture was confounded with hand location and systematic kinematic changes, and the trajectory-similarity analysis was not shown for isometric force. Trajectories were not perfectly reshaped-free (values remain above 1)</a:t>
            </a:r>
          </a:p>
          <a:p>
            <a:pPr lvl="0"/>
            <a:r>
              <a:rPr lang="en-US" dirty="0"/>
              <a:t>Some Fig 6 comparisons rest on few data points (e.g. 3 bin differences for Monkey R BCI) </a:t>
            </a:r>
          </a:p>
          <a:p>
            <a:pPr lvl="0"/>
            <a:r>
              <a:rPr lang="en-US" dirty="0"/>
              <a:t>Analyses (PCA, </a:t>
            </a:r>
            <a:r>
              <a:rPr lang="en-US" dirty="0" err="1"/>
              <a:t>dPCA</a:t>
            </a:r>
            <a:r>
              <a:rPr lang="en-US" dirty="0"/>
              <a:t>, LDA) are linear, so nonlinear structure may be missed </a:t>
            </a:r>
          </a:p>
          <a:p>
            <a:pPr lvl="0"/>
            <a:r>
              <a:rPr lang="en-US" dirty="0"/>
              <a:t>Animals were trained on reaching before BCI, so BCI geometry may partly reflect reaching strategies </a:t>
            </a:r>
            <a:r>
              <a:rPr lang="en-US" dirty="0">
                <a:sym typeface="Wingdings" pitchFamily="2" charset="2"/>
              </a:rPr>
              <a:t> no effect on learning on these representations</a:t>
            </a:r>
            <a:endParaRPr lang="en-US" dirty="0"/>
          </a:p>
        </p:txBody>
      </p:sp>
    </p:spTree>
    <p:extLst>
      <p:ext uri="{BB962C8B-B14F-4D97-AF65-F5344CB8AC3E}">
        <p14:creationId xmlns:p14="http://schemas.microsoft.com/office/powerpoint/2010/main" val="1553047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BE7EA-8031-631B-9E70-0D8F5D3A5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7A659-BFEF-C8C6-571F-DB13A05117CA}"/>
              </a:ext>
            </a:extLst>
          </p:cNvPr>
          <p:cNvSpPr>
            <a:spLocks noGrp="1"/>
          </p:cNvSpPr>
          <p:nvPr>
            <p:ph type="title"/>
          </p:nvPr>
        </p:nvSpPr>
        <p:spPr/>
        <p:txBody>
          <a:bodyPr/>
          <a:lstStyle/>
          <a:p>
            <a:r>
              <a:rPr lang="en-US" dirty="0"/>
              <a:t>What can we Take</a:t>
            </a:r>
          </a:p>
        </p:txBody>
      </p:sp>
      <p:sp>
        <p:nvSpPr>
          <p:cNvPr id="3" name="Content Placeholder 2">
            <a:extLst>
              <a:ext uri="{FF2B5EF4-FFF2-40B4-BE49-F238E27FC236}">
                <a16:creationId xmlns:a16="http://schemas.microsoft.com/office/drawing/2014/main" id="{345D2237-C4C5-7055-EA6B-72D1172EC779}"/>
              </a:ext>
            </a:extLst>
          </p:cNvPr>
          <p:cNvSpPr>
            <a:spLocks noGrp="1"/>
          </p:cNvSpPr>
          <p:nvPr>
            <p:ph idx="1"/>
          </p:nvPr>
        </p:nvSpPr>
        <p:spPr>
          <a:xfrm>
            <a:off x="700634" y="1781318"/>
            <a:ext cx="10691265" cy="3739896"/>
          </a:xfrm>
        </p:spPr>
        <p:txBody>
          <a:bodyPr>
            <a:normAutofit fontScale="92500" lnSpcReduction="20000"/>
          </a:bodyPr>
          <a:lstStyle/>
          <a:p>
            <a:pPr lvl="0"/>
            <a:r>
              <a:rPr lang="en-US" dirty="0"/>
              <a:t>Posture is a confound to plan for. Arm posture shifts M1 activity along a consistent, low-variance dimension, so systematically varying posture (and calibrating or controlling for it) is worth building into BCI datasets </a:t>
            </a:r>
            <a:r>
              <a:rPr lang="en-US" dirty="0">
                <a:sym typeface="Wingdings" pitchFamily="2" charset="2"/>
              </a:rPr>
              <a:t> How does this translate to ECoG?</a:t>
            </a:r>
            <a:endParaRPr lang="en-US" dirty="0"/>
          </a:p>
          <a:p>
            <a:pPr lvl="0"/>
            <a:r>
              <a:rPr lang="en-US" dirty="0"/>
              <a:t>Is it worth only looking at premovement epochs to understand this?</a:t>
            </a:r>
          </a:p>
          <a:p>
            <a:pPr lvl="0"/>
            <a:r>
              <a:rPr lang="en-US" dirty="0"/>
              <a:t>Posture-invariant decoding: if the goal subspace is stable, pooling several postures to train the decoder could reduce recalibration when a patient's posture changes</a:t>
            </a:r>
          </a:p>
          <a:p>
            <a:pPr lvl="0"/>
            <a:r>
              <a:rPr lang="en-US" dirty="0"/>
              <a:t>The cross-projection alignment test is a good way to quantify overlap between subspaces (e.g. across gestures, sessions, or array regions), and is more informative than principal angles alone</a:t>
            </a:r>
          </a:p>
          <a:p>
            <a:pPr lvl="0"/>
            <a:r>
              <a:rPr lang="en-US" dirty="0"/>
              <a:t>Choose analysis windows that avoid proprioceptive feedback, and check trajectory shape reuse with the translation analysis</a:t>
            </a:r>
          </a:p>
          <a:p>
            <a:pPr lvl="0"/>
            <a:r>
              <a:rPr lang="en-US" dirty="0" err="1"/>
              <a:t>Demixed</a:t>
            </a:r>
            <a:r>
              <a:rPr lang="en-US" dirty="0"/>
              <a:t> methods (</a:t>
            </a:r>
            <a:r>
              <a:rPr lang="en-US" dirty="0" err="1"/>
              <a:t>dPCA</a:t>
            </a:r>
            <a:r>
              <a:rPr lang="en-US" dirty="0"/>
              <a:t>, LDA) can pull out effects that PCA hides in low-variance dimensions</a:t>
            </a:r>
          </a:p>
        </p:txBody>
      </p:sp>
    </p:spTree>
    <p:extLst>
      <p:ext uri="{BB962C8B-B14F-4D97-AF65-F5344CB8AC3E}">
        <p14:creationId xmlns:p14="http://schemas.microsoft.com/office/powerpoint/2010/main" val="3213768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8B5A3-B860-E496-19DA-1DD9C175B7B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761BFE6-A47A-BB2A-A7CD-021CA0403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5A5410-018D-C86D-F17B-49857013B3C7}"/>
              </a:ext>
            </a:extLst>
          </p:cNvPr>
          <p:cNvSpPr>
            <a:spLocks noGrp="1"/>
          </p:cNvSpPr>
          <p:nvPr>
            <p:ph type="title"/>
          </p:nvPr>
        </p:nvSpPr>
        <p:spPr>
          <a:xfrm>
            <a:off x="704088" y="914400"/>
            <a:ext cx="4411922" cy="1473200"/>
          </a:xfrm>
        </p:spPr>
        <p:txBody>
          <a:bodyPr>
            <a:normAutofit/>
          </a:bodyPr>
          <a:lstStyle/>
          <a:p>
            <a:r>
              <a:rPr lang="en-US" sz="3600" dirty="0"/>
              <a:t>Our Data</a:t>
            </a:r>
          </a:p>
        </p:txBody>
      </p:sp>
      <p:cxnSp>
        <p:nvCxnSpPr>
          <p:cNvPr id="11" name="Straight Connector 10">
            <a:extLst>
              <a:ext uri="{FF2B5EF4-FFF2-40B4-BE49-F238E27FC236}">
                <a16:creationId xmlns:a16="http://schemas.microsoft.com/office/drawing/2014/main" id="{76E9AB43-3B28-7D1B-5DD7-EDEFBFD0BD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006F08F-D3EE-FB3D-472A-F0838519E2B7}"/>
              </a:ext>
            </a:extLst>
          </p:cNvPr>
          <p:cNvSpPr>
            <a:spLocks noGrp="1"/>
          </p:cNvSpPr>
          <p:nvPr>
            <p:ph idx="1"/>
          </p:nvPr>
        </p:nvSpPr>
        <p:spPr>
          <a:xfrm>
            <a:off x="590039" y="1651000"/>
            <a:ext cx="3705866" cy="3767328"/>
          </a:xfrm>
        </p:spPr>
        <p:txBody>
          <a:bodyPr>
            <a:normAutofit/>
          </a:bodyPr>
          <a:lstStyle/>
          <a:p>
            <a:r>
              <a:rPr lang="en-US" sz="1600" dirty="0"/>
              <a:t>We seem to see only Goal-Directed Activity with P15, with a lack of postural representations</a:t>
            </a:r>
          </a:p>
          <a:p>
            <a:r>
              <a:rPr lang="en-US" sz="1600" dirty="0"/>
              <a:t>We see differences in HG response based on starting positions (aligned to goal) across patients and locations on M1</a:t>
            </a:r>
          </a:p>
          <a:p>
            <a:r>
              <a:rPr lang="en-US" sz="1600" dirty="0"/>
              <a:t>We see an away and to rest effect which they cannot test</a:t>
            </a:r>
          </a:p>
        </p:txBody>
      </p:sp>
      <p:pic>
        <p:nvPicPr>
          <p:cNvPr id="5" name="Picture 4">
            <a:extLst>
              <a:ext uri="{FF2B5EF4-FFF2-40B4-BE49-F238E27FC236}">
                <a16:creationId xmlns:a16="http://schemas.microsoft.com/office/drawing/2014/main" id="{D2AB6E03-9357-E21C-AF49-3F80588815FB}"/>
              </a:ext>
            </a:extLst>
          </p:cNvPr>
          <p:cNvPicPr>
            <a:picLocks noChangeAspect="1"/>
          </p:cNvPicPr>
          <p:nvPr/>
        </p:nvPicPr>
        <p:blipFill>
          <a:blip r:embed="rId3"/>
          <a:stretch>
            <a:fillRect/>
          </a:stretch>
        </p:blipFill>
        <p:spPr>
          <a:xfrm>
            <a:off x="8281401" y="0"/>
            <a:ext cx="4024648" cy="6858000"/>
          </a:xfrm>
          <a:prstGeom prst="rect">
            <a:avLst/>
          </a:prstGeom>
        </p:spPr>
      </p:pic>
      <p:pic>
        <p:nvPicPr>
          <p:cNvPr id="6" name="Picture 5" descr="fe_traces_per_patient.png">
            <a:extLst>
              <a:ext uri="{FF2B5EF4-FFF2-40B4-BE49-F238E27FC236}">
                <a16:creationId xmlns:a16="http://schemas.microsoft.com/office/drawing/2014/main" id="{D989C03C-4EB3-A2A8-03CE-E22AA86F5E65}"/>
              </a:ext>
            </a:extLst>
          </p:cNvPr>
          <p:cNvPicPr>
            <a:picLocks noChangeAspect="1"/>
          </p:cNvPicPr>
          <p:nvPr/>
        </p:nvPicPr>
        <p:blipFill>
          <a:blip r:embed="rId4"/>
          <a:stretch>
            <a:fillRect/>
          </a:stretch>
        </p:blipFill>
        <p:spPr>
          <a:xfrm>
            <a:off x="237336" y="4470401"/>
            <a:ext cx="7930016" cy="1807972"/>
          </a:xfrm>
          <a:prstGeom prst="rect">
            <a:avLst/>
          </a:prstGeom>
        </p:spPr>
      </p:pic>
      <p:pic>
        <p:nvPicPr>
          <p:cNvPr id="7" name="Picture 6">
            <a:extLst>
              <a:ext uri="{FF2B5EF4-FFF2-40B4-BE49-F238E27FC236}">
                <a16:creationId xmlns:a16="http://schemas.microsoft.com/office/drawing/2014/main" id="{3C447C24-775E-2F2C-ACAC-C414997261F7}"/>
              </a:ext>
            </a:extLst>
          </p:cNvPr>
          <p:cNvPicPr>
            <a:picLocks noChangeAspect="1"/>
          </p:cNvPicPr>
          <p:nvPr/>
        </p:nvPicPr>
        <p:blipFill>
          <a:blip r:embed="rId5"/>
          <a:stretch>
            <a:fillRect/>
          </a:stretch>
        </p:blipFill>
        <p:spPr>
          <a:xfrm>
            <a:off x="4295905" y="443208"/>
            <a:ext cx="4289951" cy="3407007"/>
          </a:xfrm>
          <a:prstGeom prst="rect">
            <a:avLst/>
          </a:prstGeom>
        </p:spPr>
      </p:pic>
    </p:spTree>
    <p:extLst>
      <p:ext uri="{BB962C8B-B14F-4D97-AF65-F5344CB8AC3E}">
        <p14:creationId xmlns:p14="http://schemas.microsoft.com/office/powerpoint/2010/main" val="399264143"/>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16256</TotalTime>
  <Words>2852</Words>
  <Application>Microsoft Macintosh PowerPoint</Application>
  <PresentationFormat>Widescreen</PresentationFormat>
  <Paragraphs>151</Paragraphs>
  <Slides>20</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Calisto MT</vt:lpstr>
      <vt:lpstr>Univers Condensed</vt:lpstr>
      <vt:lpstr>Wingdings</vt:lpstr>
      <vt:lpstr>ChronicleVTI</vt:lpstr>
      <vt:lpstr>A posture subspace in the primary motor cortex</vt:lpstr>
      <vt:lpstr>Ethical Statement </vt:lpstr>
      <vt:lpstr>Purpose</vt:lpstr>
      <vt:lpstr>How are posture and goal signals organized within M1 Neuronal activity to allow us to have goal-oriented behavior from different positions?</vt:lpstr>
      <vt:lpstr>2 hypotheses exist for postural control</vt:lpstr>
      <vt:lpstr>Implant Information</vt:lpstr>
      <vt:lpstr>Recording </vt:lpstr>
      <vt:lpstr>Tasks  </vt:lpstr>
      <vt:lpstr>Methods - Analysis </vt:lpstr>
      <vt:lpstr>Results – Posture and goal occupy separate Dimensions</vt:lpstr>
      <vt:lpstr>Results – Posture and goal subspaces are nearly orthogonal</vt:lpstr>
      <vt:lpstr>Results – The same organization holds in overt tasks</vt:lpstr>
      <vt:lpstr>Results – The posture subspace is shared across tasks</vt:lpstr>
      <vt:lpstr>Results – Trajectory shapes are similar across postures</vt:lpstr>
      <vt:lpstr>DPCA is not necessary and drift doesn’t account</vt:lpstr>
      <vt:lpstr>Discussion </vt:lpstr>
      <vt:lpstr>Origin of the signal and clinical BCI implications</vt:lpstr>
      <vt:lpstr>Limitations</vt:lpstr>
      <vt:lpstr>What can we Take</vt:lpstr>
      <vt:lpstr>Our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Sargur, Krishna</dc:creator>
  <cp:lastModifiedBy>Sargur, Krishna</cp:lastModifiedBy>
  <cp:revision>20</cp:revision>
  <dcterms:created xsi:type="dcterms:W3CDTF">2025-05-29T10:57:54Z</dcterms:created>
  <dcterms:modified xsi:type="dcterms:W3CDTF">2026-09-23T20:45:51Z</dcterms:modified>
</cp:coreProperties>
</file>